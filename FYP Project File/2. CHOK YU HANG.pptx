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niglet"/>
      <p:regular r:id="rId20"/>
    </p:embeddedFon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OZLUb87xzkdQyCMswXjUBUZEg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niglet-regular.fntdata"/><Relationship Id="rId11" Type="http://schemas.openxmlformats.org/officeDocument/2006/relationships/slide" Target="slides/slide5.xml"/><Relationship Id="rId22" Type="http://schemas.openxmlformats.org/officeDocument/2006/relationships/font" Target="fonts/GillSans-bold.fntdata"/><Relationship Id="rId10" Type="http://schemas.openxmlformats.org/officeDocument/2006/relationships/slide" Target="slides/slide4.xml"/><Relationship Id="rId21" Type="http://schemas.openxmlformats.org/officeDocument/2006/relationships/font" Target="fonts/GillSan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28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6" name="Google Shape;106;p2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3" name="Google Shape;113;p30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1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1" name="Google Shape;121;p3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32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32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1" name="Google Shape;131;p3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7" name="Google Shape;137;p3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5" name="Google Shape;145;p34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35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48" name="Google Shape;148;p35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5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35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5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2" name="Google Shape;152;p35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35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6" name="Google Shape;156;p35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3" name="Google Shape;163;p3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0" name="Google Shape;170;p37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sz="2800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6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/>
          <p:nvPr/>
        </p:nvSpPr>
        <p:spPr>
          <a:xfrm>
            <a:off x="502920" y="548640"/>
            <a:ext cx="4892040" cy="548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BEC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777240" y="865857"/>
            <a:ext cx="502920" cy="502920"/>
          </a:xfrm>
          <a:prstGeom prst="ellipse">
            <a:avLst/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1234440" y="1048737"/>
            <a:ext cx="320040" cy="320040"/>
          </a:xfrm>
          <a:prstGeom prst="ellipse">
            <a:avLst/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4526280" y="5257800"/>
            <a:ext cx="411480" cy="411480"/>
          </a:xfrm>
          <a:prstGeom prst="ellipse">
            <a:avLst/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1042416" y="1243584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Banana Ripeness</a:t>
            </a:r>
            <a:br>
              <a:rPr b="1" i="0" lang="en-US" sz="26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6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Classification System</a:t>
            </a:r>
            <a:endParaRPr/>
          </a:p>
        </p:txBody>
      </p:sp>
      <p:sp>
        <p:nvSpPr>
          <p:cNvPr id="180" name="Google Shape;180;p1"/>
          <p:cNvSpPr txBox="1"/>
          <p:nvPr/>
        </p:nvSpPr>
        <p:spPr>
          <a:xfrm>
            <a:off x="896112" y="2063721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A market-oriented pitching deck for a real-time vision-based prototype that classifies banana ripeness under lighting variation.</a:t>
            </a:r>
            <a:endParaRPr/>
          </a:p>
        </p:txBody>
      </p:sp>
      <p:sp>
        <p:nvSpPr>
          <p:cNvPr id="181" name="Google Shape;181;p1"/>
          <p:cNvSpPr/>
          <p:nvPr/>
        </p:nvSpPr>
        <p:spPr>
          <a:xfrm>
            <a:off x="868680" y="2926080"/>
            <a:ext cx="3886200" cy="621792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1024128" y="2999232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Current Stage</a:t>
            </a:r>
            <a:endParaRPr/>
          </a:p>
        </p:txBody>
      </p:sp>
      <p:sp>
        <p:nvSpPr>
          <p:cNvPr id="183" name="Google Shape;183;p1"/>
          <p:cNvSpPr txBox="1"/>
          <p:nvPr/>
        </p:nvSpPr>
        <p:spPr>
          <a:xfrm>
            <a:off x="2167128" y="3021549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Prototype &amp; testing stage</a:t>
            </a:r>
            <a:endParaRPr/>
          </a:p>
        </p:txBody>
      </p:sp>
      <p:sp>
        <p:nvSpPr>
          <p:cNvPr id="184" name="Google Shape;184;p1"/>
          <p:cNvSpPr/>
          <p:nvPr/>
        </p:nvSpPr>
        <p:spPr>
          <a:xfrm>
            <a:off x="868680" y="3712464"/>
            <a:ext cx="3886200" cy="621792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1024128" y="3785616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Core Tech</a:t>
            </a:r>
            <a:endParaRPr/>
          </a:p>
        </p:txBody>
      </p:sp>
      <p:sp>
        <p:nvSpPr>
          <p:cNvPr id="186" name="Google Shape;186;p1"/>
          <p:cNvSpPr txBox="1"/>
          <p:nvPr/>
        </p:nvSpPr>
        <p:spPr>
          <a:xfrm>
            <a:off x="2148840" y="3730752"/>
            <a:ext cx="2606040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YOLO-based classification</a:t>
            </a:r>
            <a:b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+ image preprocessing</a:t>
            </a:r>
            <a:endParaRPr/>
          </a:p>
        </p:txBody>
      </p:sp>
      <p:sp>
        <p:nvSpPr>
          <p:cNvPr id="187" name="Google Shape;187;p1"/>
          <p:cNvSpPr/>
          <p:nvPr/>
        </p:nvSpPr>
        <p:spPr>
          <a:xfrm>
            <a:off x="868680" y="4498848"/>
            <a:ext cx="3886200" cy="62179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1024128" y="457200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Best Practical Method</a:t>
            </a:r>
            <a:endParaRPr/>
          </a:p>
        </p:txBody>
      </p:sp>
      <p:sp>
        <p:nvSpPr>
          <p:cNvPr id="189" name="Google Shape;189;p1"/>
          <p:cNvSpPr txBox="1"/>
          <p:nvPr/>
        </p:nvSpPr>
        <p:spPr>
          <a:xfrm>
            <a:off x="2148840" y="4517136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Method 3</a:t>
            </a:r>
            <a:b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(Isolated + CLAHE)</a:t>
            </a:r>
            <a:endParaRPr/>
          </a:p>
        </p:txBody>
      </p:sp>
      <p:sp>
        <p:nvSpPr>
          <p:cNvPr id="190" name="Google Shape;190;p1"/>
          <p:cNvSpPr txBox="1"/>
          <p:nvPr/>
        </p:nvSpPr>
        <p:spPr>
          <a:xfrm>
            <a:off x="5806440" y="868680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5 Essentials</a:t>
            </a:r>
            <a:br>
              <a:rPr b="1" i="0" lang="en-US" sz="28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for Market Success</a:t>
            </a:r>
            <a:endParaRPr/>
          </a:p>
        </p:txBody>
      </p:sp>
      <p:sp>
        <p:nvSpPr>
          <p:cNvPr id="191" name="Google Shape;191;p1"/>
          <p:cNvSpPr txBox="1"/>
          <p:nvPr/>
        </p:nvSpPr>
        <p:spPr>
          <a:xfrm>
            <a:off x="5833872" y="173736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A concise future-facing business view of the FYP project.</a:t>
            </a:r>
            <a:endParaRPr/>
          </a:p>
        </p:txBody>
      </p:sp>
      <p:sp>
        <p:nvSpPr>
          <p:cNvPr id="192" name="Google Shape;192;p1"/>
          <p:cNvSpPr/>
          <p:nvPr/>
        </p:nvSpPr>
        <p:spPr>
          <a:xfrm>
            <a:off x="5806440" y="2514600"/>
            <a:ext cx="15544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5879592" y="2587752"/>
            <a:ext cx="457200" cy="292608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5897879" y="2606040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"/>
          <p:cNvSpPr txBox="1"/>
          <p:nvPr/>
        </p:nvSpPr>
        <p:spPr>
          <a:xfrm>
            <a:off x="5916168" y="2953512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Market &amp;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Competitive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/>
          </a:p>
        </p:txBody>
      </p:sp>
      <p:sp>
        <p:nvSpPr>
          <p:cNvPr id="196" name="Google Shape;196;p1"/>
          <p:cNvSpPr/>
          <p:nvPr/>
        </p:nvSpPr>
        <p:spPr>
          <a:xfrm>
            <a:off x="7589520" y="2514600"/>
            <a:ext cx="15544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7662672" y="2587752"/>
            <a:ext cx="457200" cy="292608"/>
          </a:xfrm>
          <a:prstGeom prst="roundRect">
            <a:avLst>
              <a:gd fmla="val 16667" name="adj"/>
            </a:avLst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 txBox="1"/>
          <p:nvPr/>
        </p:nvSpPr>
        <p:spPr>
          <a:xfrm>
            <a:off x="7680960" y="2606040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9" name="Google Shape;199;p1"/>
          <p:cNvSpPr txBox="1"/>
          <p:nvPr/>
        </p:nvSpPr>
        <p:spPr>
          <a:xfrm>
            <a:off x="7699248" y="2953512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Uniqueness /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Unique Selling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/>
          </a:p>
        </p:txBody>
      </p:sp>
      <p:sp>
        <p:nvSpPr>
          <p:cNvPr id="200" name="Google Shape;200;p1"/>
          <p:cNvSpPr/>
          <p:nvPr/>
        </p:nvSpPr>
        <p:spPr>
          <a:xfrm>
            <a:off x="9372600" y="2514600"/>
            <a:ext cx="15544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/>
          <p:nvPr/>
        </p:nvSpPr>
        <p:spPr>
          <a:xfrm>
            <a:off x="9445752" y="2587752"/>
            <a:ext cx="457200" cy="292608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"/>
          <p:cNvSpPr txBox="1"/>
          <p:nvPr/>
        </p:nvSpPr>
        <p:spPr>
          <a:xfrm>
            <a:off x="9464040" y="2606040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3" name="Google Shape;203;p1"/>
          <p:cNvSpPr txBox="1"/>
          <p:nvPr/>
        </p:nvSpPr>
        <p:spPr>
          <a:xfrm>
            <a:off x="9482328" y="2953512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Target Market &amp;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Go-to-Market</a:t>
            </a:r>
            <a:endParaRPr/>
          </a:p>
        </p:txBody>
      </p:sp>
      <p:sp>
        <p:nvSpPr>
          <p:cNvPr id="204" name="Google Shape;204;p1"/>
          <p:cNvSpPr/>
          <p:nvPr/>
        </p:nvSpPr>
        <p:spPr>
          <a:xfrm>
            <a:off x="6693408" y="4526280"/>
            <a:ext cx="15544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6766560" y="4599432"/>
            <a:ext cx="457200" cy="292608"/>
          </a:xfrm>
          <a:prstGeom prst="roundRect">
            <a:avLst>
              <a:gd fmla="val 16667" name="adj"/>
            </a:avLst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6784848" y="4617720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7" name="Google Shape;207;p1"/>
          <p:cNvSpPr txBox="1"/>
          <p:nvPr/>
        </p:nvSpPr>
        <p:spPr>
          <a:xfrm>
            <a:off x="6803136" y="4965192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Investment &amp;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sp>
        <p:nvSpPr>
          <p:cNvPr id="208" name="Google Shape;208;p1"/>
          <p:cNvSpPr/>
          <p:nvPr/>
        </p:nvSpPr>
        <p:spPr>
          <a:xfrm>
            <a:off x="8485632" y="4526280"/>
            <a:ext cx="15544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8558784" y="4599432"/>
            <a:ext cx="457200" cy="292608"/>
          </a:xfrm>
          <a:prstGeom prst="roundRect">
            <a:avLst>
              <a:gd fmla="val 16667" name="adj"/>
            </a:avLst>
          </a:prstGeom>
          <a:solidFill>
            <a:srgbClr val="9774B7"/>
          </a:solidFill>
          <a:ln cap="flat" cmpd="sng" w="9525">
            <a:solidFill>
              <a:srgbClr val="9774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 txBox="1"/>
          <p:nvPr/>
        </p:nvSpPr>
        <p:spPr>
          <a:xfrm>
            <a:off x="8577072" y="4617720"/>
            <a:ext cx="4206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1" name="Google Shape;211;p1"/>
          <p:cNvSpPr txBox="1"/>
          <p:nvPr/>
        </p:nvSpPr>
        <p:spPr>
          <a:xfrm>
            <a:off x="8595359" y="4965192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Prototype /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Demo &amp;</a:t>
            </a:r>
            <a:b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Future Direction</a:t>
            </a:r>
            <a:endParaRPr/>
          </a:p>
        </p:txBody>
      </p:sp>
      <p:sp>
        <p:nvSpPr>
          <p:cNvPr id="212" name="Google Shape;212;p1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 txBox="1"/>
          <p:nvPr/>
        </p:nvSpPr>
        <p:spPr>
          <a:xfrm>
            <a:off x="548640" y="64922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Market Success Deck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"/>
          <p:cNvSpPr/>
          <p:nvPr/>
        </p:nvSpPr>
        <p:spPr>
          <a:xfrm>
            <a:off x="0" y="27432"/>
            <a:ext cx="12192000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 txBox="1"/>
          <p:nvPr/>
        </p:nvSpPr>
        <p:spPr>
          <a:xfrm>
            <a:off x="1600200" y="192024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&amp; Current Solutions</a:t>
            </a:r>
            <a:endParaRPr/>
          </a:p>
        </p:txBody>
      </p:sp>
      <p:sp>
        <p:nvSpPr>
          <p:cNvPr id="220" name="Google Shape;220;p2"/>
          <p:cNvSpPr txBox="1"/>
          <p:nvPr/>
        </p:nvSpPr>
        <p:spPr>
          <a:xfrm>
            <a:off x="1609344" y="5029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The practical challenge behind banana ripeness classification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509761" y="1701835"/>
            <a:ext cx="4754880" cy="397961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 txBox="1"/>
          <p:nvPr/>
        </p:nvSpPr>
        <p:spPr>
          <a:xfrm>
            <a:off x="886968" y="1463040"/>
            <a:ext cx="969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223" name="Google Shape;223;p2"/>
          <p:cNvSpPr txBox="1"/>
          <p:nvPr/>
        </p:nvSpPr>
        <p:spPr>
          <a:xfrm>
            <a:off x="859385" y="3710867"/>
            <a:ext cx="4069080" cy="1625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Background interference and lighting variation may reduce the reliability of banana ripeness classification.</a:t>
            </a:r>
            <a:endParaRPr/>
          </a:p>
        </p:txBody>
      </p:sp>
      <p:sp>
        <p:nvSpPr>
          <p:cNvPr id="224" name="Google Shape;224;p2"/>
          <p:cNvSpPr/>
          <p:nvPr/>
        </p:nvSpPr>
        <p:spPr>
          <a:xfrm>
            <a:off x="5669280" y="1301685"/>
            <a:ext cx="2941369" cy="4915505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6096000" y="1313350"/>
            <a:ext cx="2379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b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226" name="Google Shape;226;p2"/>
          <p:cNvSpPr/>
          <p:nvPr/>
        </p:nvSpPr>
        <p:spPr>
          <a:xfrm>
            <a:off x="8986437" y="1301685"/>
            <a:ext cx="2941368" cy="4972126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 txBox="1"/>
          <p:nvPr/>
        </p:nvSpPr>
        <p:spPr>
          <a:xfrm>
            <a:off x="9389608" y="1301685"/>
            <a:ext cx="2082865" cy="88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Lighting</a:t>
            </a:r>
            <a:b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Variation</a:t>
            </a:r>
            <a:endParaRPr/>
          </a:p>
        </p:txBody>
      </p:sp>
      <p:sp>
        <p:nvSpPr>
          <p:cNvPr id="228" name="Google Shape;228;p2"/>
          <p:cNvSpPr/>
          <p:nvPr/>
        </p:nvSpPr>
        <p:spPr>
          <a:xfrm>
            <a:off x="976045" y="2113194"/>
            <a:ext cx="3952420" cy="1292130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"/>
          <p:cNvSpPr txBox="1"/>
          <p:nvPr/>
        </p:nvSpPr>
        <p:spPr>
          <a:xfrm>
            <a:off x="1078236" y="2241929"/>
            <a:ext cx="3837836" cy="1163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How can banana ripeness be detected reliably in practical conditions?</a:t>
            </a:r>
            <a:endParaRPr/>
          </a:p>
        </p:txBody>
      </p:sp>
      <p:sp>
        <p:nvSpPr>
          <p:cNvPr id="230" name="Google Shape;230;p2"/>
          <p:cNvSpPr/>
          <p:nvPr/>
        </p:nvSpPr>
        <p:spPr>
          <a:xfrm>
            <a:off x="288036" y="204265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9774B7"/>
          </a:solidFill>
          <a:ln cap="flat" cmpd="sng" w="9525">
            <a:solidFill>
              <a:srgbClr val="9774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"/>
          <p:cNvSpPr txBox="1"/>
          <p:nvPr/>
        </p:nvSpPr>
        <p:spPr>
          <a:xfrm>
            <a:off x="273828" y="23971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232" name="Google Shape;232;p2"/>
          <p:cNvSpPr/>
          <p:nvPr/>
        </p:nvSpPr>
        <p:spPr>
          <a:xfrm>
            <a:off x="5869808" y="2280862"/>
            <a:ext cx="2605598" cy="3818048"/>
          </a:xfrm>
          <a:custGeom>
            <a:rect b="b" l="l" r="r" t="t"/>
            <a:pathLst>
              <a:path extrusionOk="0" h="1159829" w="685812">
                <a:moveTo>
                  <a:pt x="61212" y="0"/>
                </a:moveTo>
                <a:lnTo>
                  <a:pt x="624600" y="0"/>
                </a:lnTo>
                <a:cubicBezTo>
                  <a:pt x="658407" y="0"/>
                  <a:pt x="685812" y="27406"/>
                  <a:pt x="685812" y="61212"/>
                </a:cubicBezTo>
                <a:lnTo>
                  <a:pt x="685812" y="1098617"/>
                </a:lnTo>
                <a:cubicBezTo>
                  <a:pt x="685812" y="1132424"/>
                  <a:pt x="658407" y="1159829"/>
                  <a:pt x="624600" y="1159829"/>
                </a:cubicBezTo>
                <a:lnTo>
                  <a:pt x="61212" y="1159829"/>
                </a:lnTo>
                <a:cubicBezTo>
                  <a:pt x="27406" y="1159829"/>
                  <a:pt x="0" y="1132424"/>
                  <a:pt x="0" y="1098617"/>
                </a:cubicBezTo>
                <a:lnTo>
                  <a:pt x="0" y="61212"/>
                </a:lnTo>
                <a:cubicBezTo>
                  <a:pt x="0" y="27406"/>
                  <a:pt x="27406" y="0"/>
                  <a:pt x="61212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557" r="-345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"/>
          <p:cNvSpPr/>
          <p:nvPr/>
        </p:nvSpPr>
        <p:spPr>
          <a:xfrm>
            <a:off x="9120794" y="2188082"/>
            <a:ext cx="2666313" cy="3936326"/>
          </a:xfrm>
          <a:custGeom>
            <a:rect b="b" l="l" r="r" t="t"/>
            <a:pathLst>
              <a:path extrusionOk="0" h="849444" w="576525">
                <a:moveTo>
                  <a:pt x="72815" y="0"/>
                </a:moveTo>
                <a:lnTo>
                  <a:pt x="503710" y="0"/>
                </a:lnTo>
                <a:cubicBezTo>
                  <a:pt x="543925" y="0"/>
                  <a:pt x="576525" y="32601"/>
                  <a:pt x="576525" y="72815"/>
                </a:cubicBezTo>
                <a:lnTo>
                  <a:pt x="576525" y="776629"/>
                </a:lnTo>
                <a:cubicBezTo>
                  <a:pt x="576525" y="795941"/>
                  <a:pt x="568854" y="814462"/>
                  <a:pt x="555198" y="828117"/>
                </a:cubicBezTo>
                <a:cubicBezTo>
                  <a:pt x="541543" y="841773"/>
                  <a:pt x="523022" y="849444"/>
                  <a:pt x="503710" y="849444"/>
                </a:cubicBezTo>
                <a:lnTo>
                  <a:pt x="72815" y="849444"/>
                </a:lnTo>
                <a:cubicBezTo>
                  <a:pt x="53504" y="849444"/>
                  <a:pt x="34983" y="841773"/>
                  <a:pt x="21327" y="828117"/>
                </a:cubicBezTo>
                <a:cubicBezTo>
                  <a:pt x="7672" y="814462"/>
                  <a:pt x="0" y="795941"/>
                  <a:pt x="0" y="776629"/>
                </a:cubicBezTo>
                <a:lnTo>
                  <a:pt x="0" y="72815"/>
                </a:lnTo>
                <a:cubicBezTo>
                  <a:pt x="0" y="53504"/>
                  <a:pt x="7672" y="34983"/>
                  <a:pt x="21327" y="21327"/>
                </a:cubicBezTo>
                <a:cubicBezTo>
                  <a:pt x="34983" y="7672"/>
                  <a:pt x="53504" y="0"/>
                  <a:pt x="72815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3668" r="-2366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574405" y="2938003"/>
            <a:ext cx="1034939" cy="868680"/>
          </a:xfrm>
          <a:custGeom>
            <a:rect b="b" l="l" r="r" t="t"/>
            <a:pathLst>
              <a:path extrusionOk="0" h="2093972" w="2406764">
                <a:moveTo>
                  <a:pt x="0" y="0"/>
                </a:moveTo>
                <a:lnTo>
                  <a:pt x="2406764" y="0"/>
                </a:lnTo>
                <a:lnTo>
                  <a:pt x="2406764" y="2093971"/>
                </a:lnTo>
                <a:lnTo>
                  <a:pt x="0" y="2093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"/>
          <p:cNvGrpSpPr/>
          <p:nvPr/>
        </p:nvGrpSpPr>
        <p:grpSpPr>
          <a:xfrm>
            <a:off x="175164" y="824005"/>
            <a:ext cx="3622185" cy="5321156"/>
            <a:chOff x="0" y="-47625"/>
            <a:chExt cx="1250036" cy="2118587"/>
          </a:xfrm>
        </p:grpSpPr>
        <p:sp>
          <p:nvSpPr>
            <p:cNvPr id="240" name="Google Shape;240;p3"/>
            <p:cNvSpPr/>
            <p:nvPr/>
          </p:nvSpPr>
          <p:spPr>
            <a:xfrm>
              <a:off x="0" y="0"/>
              <a:ext cx="1250036" cy="2070962"/>
            </a:xfrm>
            <a:custGeom>
              <a:rect b="b" l="l" r="r" t="t"/>
              <a:pathLst>
                <a:path extrusionOk="0" h="2070962" w="1250036">
                  <a:moveTo>
                    <a:pt x="53806" y="0"/>
                  </a:moveTo>
                  <a:lnTo>
                    <a:pt x="1196230" y="0"/>
                  </a:lnTo>
                  <a:cubicBezTo>
                    <a:pt x="1210500" y="0"/>
                    <a:pt x="1224186" y="5669"/>
                    <a:pt x="1234277" y="15759"/>
                  </a:cubicBezTo>
                  <a:cubicBezTo>
                    <a:pt x="1244367" y="25850"/>
                    <a:pt x="1250036" y="39536"/>
                    <a:pt x="1250036" y="53806"/>
                  </a:cubicBezTo>
                  <a:lnTo>
                    <a:pt x="1250036" y="2017157"/>
                  </a:lnTo>
                  <a:cubicBezTo>
                    <a:pt x="1250036" y="2031427"/>
                    <a:pt x="1244367" y="2045113"/>
                    <a:pt x="1234277" y="2055203"/>
                  </a:cubicBezTo>
                  <a:cubicBezTo>
                    <a:pt x="1224186" y="2065294"/>
                    <a:pt x="1210500" y="2070962"/>
                    <a:pt x="1196230" y="2070962"/>
                  </a:cubicBezTo>
                  <a:lnTo>
                    <a:pt x="53806" y="2070962"/>
                  </a:lnTo>
                  <a:cubicBezTo>
                    <a:pt x="39536" y="2070962"/>
                    <a:pt x="25850" y="2065294"/>
                    <a:pt x="15759" y="2055203"/>
                  </a:cubicBezTo>
                  <a:cubicBezTo>
                    <a:pt x="5669" y="2045113"/>
                    <a:pt x="0" y="2031427"/>
                    <a:pt x="0" y="2017157"/>
                  </a:cubicBezTo>
                  <a:lnTo>
                    <a:pt x="0" y="53806"/>
                  </a:lnTo>
                  <a:cubicBezTo>
                    <a:pt x="0" y="39536"/>
                    <a:pt x="5669" y="25850"/>
                    <a:pt x="15759" y="15759"/>
                  </a:cubicBezTo>
                  <a:cubicBezTo>
                    <a:pt x="25850" y="5669"/>
                    <a:pt x="39536" y="0"/>
                    <a:pt x="53806" y="0"/>
                  </a:cubicBez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 txBox="1"/>
            <p:nvPr/>
          </p:nvSpPr>
          <p:spPr>
            <a:xfrm>
              <a:off x="0" y="-47625"/>
              <a:ext cx="1250036" cy="2118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"/>
          <p:cNvSpPr/>
          <p:nvPr/>
        </p:nvSpPr>
        <p:spPr>
          <a:xfrm>
            <a:off x="283990" y="1734433"/>
            <a:ext cx="3405161" cy="2171299"/>
          </a:xfrm>
          <a:custGeom>
            <a:rect b="b" l="l" r="r" t="t"/>
            <a:pathLst>
              <a:path extrusionOk="0" h="494658" w="748177">
                <a:moveTo>
                  <a:pt x="58115" y="0"/>
                </a:moveTo>
                <a:lnTo>
                  <a:pt x="690062" y="0"/>
                </a:lnTo>
                <a:cubicBezTo>
                  <a:pt x="705475" y="0"/>
                  <a:pt x="720257" y="6123"/>
                  <a:pt x="731156" y="17022"/>
                </a:cubicBezTo>
                <a:cubicBezTo>
                  <a:pt x="742054" y="27920"/>
                  <a:pt x="748177" y="42702"/>
                  <a:pt x="748177" y="58115"/>
                </a:cubicBezTo>
                <a:lnTo>
                  <a:pt x="748177" y="436543"/>
                </a:lnTo>
                <a:cubicBezTo>
                  <a:pt x="748177" y="468639"/>
                  <a:pt x="722158" y="494658"/>
                  <a:pt x="690062" y="494658"/>
                </a:cubicBezTo>
                <a:lnTo>
                  <a:pt x="58115" y="494658"/>
                </a:lnTo>
                <a:cubicBezTo>
                  <a:pt x="42702" y="494658"/>
                  <a:pt x="27920" y="488535"/>
                  <a:pt x="17022" y="477636"/>
                </a:cubicBezTo>
                <a:cubicBezTo>
                  <a:pt x="6123" y="466737"/>
                  <a:pt x="0" y="451956"/>
                  <a:pt x="0" y="436543"/>
                </a:cubicBezTo>
                <a:lnTo>
                  <a:pt x="0" y="58115"/>
                </a:lnTo>
                <a:cubicBezTo>
                  <a:pt x="0" y="42702"/>
                  <a:pt x="6123" y="27920"/>
                  <a:pt x="17022" y="17022"/>
                </a:cubicBezTo>
                <a:cubicBezTo>
                  <a:pt x="27920" y="6123"/>
                  <a:pt x="42702" y="0"/>
                  <a:pt x="58115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522" r="-2052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283990" y="3905732"/>
            <a:ext cx="34053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7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Original images with natural background and lighting variation.</a:t>
            </a:r>
            <a:endParaRPr/>
          </a:p>
          <a:p>
            <a:pPr indent="0" lvl="0" marL="0" marR="0" rtl="0" algn="just">
              <a:lnSpc>
                <a:spcPct val="197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"/>
          <p:cNvSpPr txBox="1"/>
          <p:nvPr/>
        </p:nvSpPr>
        <p:spPr>
          <a:xfrm>
            <a:off x="88417" y="904350"/>
            <a:ext cx="3622185" cy="55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Method 1 Raw</a:t>
            </a:r>
            <a:endParaRPr/>
          </a:p>
        </p:txBody>
      </p:sp>
      <p:grpSp>
        <p:nvGrpSpPr>
          <p:cNvPr id="245" name="Google Shape;245;p3"/>
          <p:cNvGrpSpPr/>
          <p:nvPr/>
        </p:nvGrpSpPr>
        <p:grpSpPr>
          <a:xfrm>
            <a:off x="4111319" y="783829"/>
            <a:ext cx="3622185" cy="5361332"/>
            <a:chOff x="0" y="-47625"/>
            <a:chExt cx="1250036" cy="2118587"/>
          </a:xfrm>
        </p:grpSpPr>
        <p:sp>
          <p:nvSpPr>
            <p:cNvPr id="246" name="Google Shape;246;p3"/>
            <p:cNvSpPr/>
            <p:nvPr/>
          </p:nvSpPr>
          <p:spPr>
            <a:xfrm>
              <a:off x="0" y="0"/>
              <a:ext cx="1250036" cy="2070962"/>
            </a:xfrm>
            <a:custGeom>
              <a:rect b="b" l="l" r="r" t="t"/>
              <a:pathLst>
                <a:path extrusionOk="0" h="2070962" w="1250036">
                  <a:moveTo>
                    <a:pt x="53806" y="0"/>
                  </a:moveTo>
                  <a:lnTo>
                    <a:pt x="1196230" y="0"/>
                  </a:lnTo>
                  <a:cubicBezTo>
                    <a:pt x="1210500" y="0"/>
                    <a:pt x="1224186" y="5669"/>
                    <a:pt x="1234277" y="15759"/>
                  </a:cubicBezTo>
                  <a:cubicBezTo>
                    <a:pt x="1244367" y="25850"/>
                    <a:pt x="1250036" y="39536"/>
                    <a:pt x="1250036" y="53806"/>
                  </a:cubicBezTo>
                  <a:lnTo>
                    <a:pt x="1250036" y="2017157"/>
                  </a:lnTo>
                  <a:cubicBezTo>
                    <a:pt x="1250036" y="2031427"/>
                    <a:pt x="1244367" y="2045113"/>
                    <a:pt x="1234277" y="2055203"/>
                  </a:cubicBezTo>
                  <a:cubicBezTo>
                    <a:pt x="1224186" y="2065294"/>
                    <a:pt x="1210500" y="2070962"/>
                    <a:pt x="1196230" y="2070962"/>
                  </a:cubicBezTo>
                  <a:lnTo>
                    <a:pt x="53806" y="2070962"/>
                  </a:lnTo>
                  <a:cubicBezTo>
                    <a:pt x="39536" y="2070962"/>
                    <a:pt x="25850" y="2065294"/>
                    <a:pt x="15759" y="2055203"/>
                  </a:cubicBezTo>
                  <a:cubicBezTo>
                    <a:pt x="5669" y="2045113"/>
                    <a:pt x="0" y="2031427"/>
                    <a:pt x="0" y="2017157"/>
                  </a:cubicBezTo>
                  <a:lnTo>
                    <a:pt x="0" y="53806"/>
                  </a:lnTo>
                  <a:cubicBezTo>
                    <a:pt x="0" y="39536"/>
                    <a:pt x="5669" y="25850"/>
                    <a:pt x="15759" y="15759"/>
                  </a:cubicBezTo>
                  <a:cubicBezTo>
                    <a:pt x="25850" y="5669"/>
                    <a:pt x="39536" y="0"/>
                    <a:pt x="53806" y="0"/>
                  </a:cubicBez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 txBox="1"/>
            <p:nvPr/>
          </p:nvSpPr>
          <p:spPr>
            <a:xfrm>
              <a:off x="0" y="-47625"/>
              <a:ext cx="1250036" cy="2118587"/>
            </a:xfrm>
            <a:prstGeom prst="rect">
              <a:avLst/>
            </a:prstGeom>
            <a:solidFill>
              <a:srgbClr val="EAF1DD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3"/>
          <p:cNvSpPr/>
          <p:nvPr/>
        </p:nvSpPr>
        <p:spPr>
          <a:xfrm>
            <a:off x="4235584" y="1836041"/>
            <a:ext cx="3308108" cy="2069691"/>
          </a:xfrm>
          <a:custGeom>
            <a:rect b="b" l="l" r="r" t="t"/>
            <a:pathLst>
              <a:path extrusionOk="0" h="477588" w="748177">
                <a:moveTo>
                  <a:pt x="56110" y="0"/>
                </a:moveTo>
                <a:lnTo>
                  <a:pt x="692067" y="0"/>
                </a:lnTo>
                <a:cubicBezTo>
                  <a:pt x="706949" y="0"/>
                  <a:pt x="721220" y="5912"/>
                  <a:pt x="731743" y="16434"/>
                </a:cubicBezTo>
                <a:cubicBezTo>
                  <a:pt x="742265" y="26957"/>
                  <a:pt x="748177" y="41228"/>
                  <a:pt x="748177" y="56110"/>
                </a:cubicBezTo>
                <a:lnTo>
                  <a:pt x="748177" y="421478"/>
                </a:lnTo>
                <a:cubicBezTo>
                  <a:pt x="748177" y="452467"/>
                  <a:pt x="723056" y="477588"/>
                  <a:pt x="692067" y="477588"/>
                </a:cubicBezTo>
                <a:lnTo>
                  <a:pt x="56110" y="477588"/>
                </a:lnTo>
                <a:cubicBezTo>
                  <a:pt x="25121" y="477588"/>
                  <a:pt x="0" y="452467"/>
                  <a:pt x="0" y="421478"/>
                </a:cubicBezTo>
                <a:lnTo>
                  <a:pt x="0" y="56110"/>
                </a:lnTo>
                <a:cubicBezTo>
                  <a:pt x="0" y="25121"/>
                  <a:pt x="25121" y="0"/>
                  <a:pt x="5611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1124" r="-2112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"/>
          <p:cNvSpPr txBox="1"/>
          <p:nvPr/>
        </p:nvSpPr>
        <p:spPr>
          <a:xfrm>
            <a:off x="4034983" y="970659"/>
            <a:ext cx="368773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Method 2 Masked + CLAHE</a:t>
            </a:r>
            <a:endParaRPr/>
          </a:p>
        </p:txBody>
      </p:sp>
      <p:sp>
        <p:nvSpPr>
          <p:cNvPr id="250" name="Google Shape;250;p3"/>
          <p:cNvSpPr txBox="1"/>
          <p:nvPr/>
        </p:nvSpPr>
        <p:spPr>
          <a:xfrm>
            <a:off x="4198066" y="3961449"/>
            <a:ext cx="3442340" cy="124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7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Banana region emphasized with moderate background suppression.</a:t>
            </a:r>
            <a:endParaRPr/>
          </a:p>
        </p:txBody>
      </p:sp>
      <p:grpSp>
        <p:nvGrpSpPr>
          <p:cNvPr id="251" name="Google Shape;251;p3"/>
          <p:cNvGrpSpPr/>
          <p:nvPr/>
        </p:nvGrpSpPr>
        <p:grpSpPr>
          <a:xfrm>
            <a:off x="8036684" y="785638"/>
            <a:ext cx="3622185" cy="5280865"/>
            <a:chOff x="0" y="-47625"/>
            <a:chExt cx="1250036" cy="2118587"/>
          </a:xfrm>
        </p:grpSpPr>
        <p:sp>
          <p:nvSpPr>
            <p:cNvPr id="252" name="Google Shape;252;p3"/>
            <p:cNvSpPr/>
            <p:nvPr/>
          </p:nvSpPr>
          <p:spPr>
            <a:xfrm>
              <a:off x="0" y="0"/>
              <a:ext cx="1250036" cy="2070962"/>
            </a:xfrm>
            <a:custGeom>
              <a:rect b="b" l="l" r="r" t="t"/>
              <a:pathLst>
                <a:path extrusionOk="0" h="2070962" w="1250036">
                  <a:moveTo>
                    <a:pt x="53806" y="0"/>
                  </a:moveTo>
                  <a:lnTo>
                    <a:pt x="1196230" y="0"/>
                  </a:lnTo>
                  <a:cubicBezTo>
                    <a:pt x="1210500" y="0"/>
                    <a:pt x="1224186" y="5669"/>
                    <a:pt x="1234277" y="15759"/>
                  </a:cubicBezTo>
                  <a:cubicBezTo>
                    <a:pt x="1244367" y="25850"/>
                    <a:pt x="1250036" y="39536"/>
                    <a:pt x="1250036" y="53806"/>
                  </a:cubicBezTo>
                  <a:lnTo>
                    <a:pt x="1250036" y="2017157"/>
                  </a:lnTo>
                  <a:cubicBezTo>
                    <a:pt x="1250036" y="2031427"/>
                    <a:pt x="1244367" y="2045113"/>
                    <a:pt x="1234277" y="2055203"/>
                  </a:cubicBezTo>
                  <a:cubicBezTo>
                    <a:pt x="1224186" y="2065294"/>
                    <a:pt x="1210500" y="2070962"/>
                    <a:pt x="1196230" y="2070962"/>
                  </a:cubicBezTo>
                  <a:lnTo>
                    <a:pt x="53806" y="2070962"/>
                  </a:lnTo>
                  <a:cubicBezTo>
                    <a:pt x="39536" y="2070962"/>
                    <a:pt x="25850" y="2065294"/>
                    <a:pt x="15759" y="2055203"/>
                  </a:cubicBezTo>
                  <a:cubicBezTo>
                    <a:pt x="5669" y="2045113"/>
                    <a:pt x="0" y="2031427"/>
                    <a:pt x="0" y="2017157"/>
                  </a:cubicBezTo>
                  <a:lnTo>
                    <a:pt x="0" y="53806"/>
                  </a:lnTo>
                  <a:cubicBezTo>
                    <a:pt x="0" y="39536"/>
                    <a:pt x="5669" y="25850"/>
                    <a:pt x="15759" y="15759"/>
                  </a:cubicBezTo>
                  <a:cubicBezTo>
                    <a:pt x="25850" y="5669"/>
                    <a:pt x="39536" y="0"/>
                    <a:pt x="53806" y="0"/>
                  </a:cubicBezTo>
                  <a:close/>
                </a:path>
              </a:pathLst>
            </a:custGeom>
            <a:solidFill>
              <a:srgbClr val="EAF1DD"/>
            </a:solidFill>
            <a:ln cap="rnd" cmpd="sng" w="9525">
              <a:solidFill>
                <a:srgbClr val="EAF1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 txBox="1"/>
            <p:nvPr/>
          </p:nvSpPr>
          <p:spPr>
            <a:xfrm>
              <a:off x="0" y="-47625"/>
              <a:ext cx="1250036" cy="2118587"/>
            </a:xfrm>
            <a:prstGeom prst="rect">
              <a:avLst/>
            </a:prstGeom>
            <a:solidFill>
              <a:srgbClr val="EAF1DD"/>
            </a:solidFill>
            <a:ln cap="flat" cmpd="sng" w="9525">
              <a:solidFill>
                <a:srgbClr val="EAF1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3"/>
          <p:cNvSpPr txBox="1"/>
          <p:nvPr/>
        </p:nvSpPr>
        <p:spPr>
          <a:xfrm>
            <a:off x="7992339" y="943622"/>
            <a:ext cx="368773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Method 3 Isolated + CLAHE</a:t>
            </a:r>
            <a:endParaRPr/>
          </a:p>
        </p:txBody>
      </p:sp>
      <p:sp>
        <p:nvSpPr>
          <p:cNvPr id="255" name="Google Shape;255;p3"/>
          <p:cNvSpPr txBox="1"/>
          <p:nvPr/>
        </p:nvSpPr>
        <p:spPr>
          <a:xfrm>
            <a:off x="8147807" y="4050712"/>
            <a:ext cx="33636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97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Background isolated to focus the model on the banana object.</a:t>
            </a:r>
            <a:endParaRPr/>
          </a:p>
          <a:p>
            <a:pPr indent="0" lvl="0" marL="0" marR="0" rtl="0" algn="just">
              <a:lnSpc>
                <a:spcPct val="197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"/>
          <p:cNvSpPr/>
          <p:nvPr/>
        </p:nvSpPr>
        <p:spPr>
          <a:xfrm>
            <a:off x="8147807" y="1795393"/>
            <a:ext cx="3442340" cy="2167371"/>
          </a:xfrm>
          <a:custGeom>
            <a:rect b="b" l="l" r="r" t="t"/>
            <a:pathLst>
              <a:path extrusionOk="0" h="477588" w="696291">
                <a:moveTo>
                  <a:pt x="60291" y="0"/>
                </a:moveTo>
                <a:lnTo>
                  <a:pt x="636000" y="0"/>
                </a:lnTo>
                <a:cubicBezTo>
                  <a:pt x="669298" y="0"/>
                  <a:pt x="696291" y="26993"/>
                  <a:pt x="696291" y="60291"/>
                </a:cubicBezTo>
                <a:lnTo>
                  <a:pt x="696291" y="417297"/>
                </a:lnTo>
                <a:cubicBezTo>
                  <a:pt x="696291" y="450595"/>
                  <a:pt x="669298" y="477588"/>
                  <a:pt x="636000" y="477588"/>
                </a:cubicBezTo>
                <a:lnTo>
                  <a:pt x="60291" y="477588"/>
                </a:lnTo>
                <a:cubicBezTo>
                  <a:pt x="26993" y="477588"/>
                  <a:pt x="0" y="450595"/>
                  <a:pt x="0" y="417297"/>
                </a:cubicBezTo>
                <a:lnTo>
                  <a:pt x="0" y="60291"/>
                </a:lnTo>
                <a:cubicBezTo>
                  <a:pt x="0" y="26993"/>
                  <a:pt x="26993" y="0"/>
                  <a:pt x="6029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7942" r="-2794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"/>
          <p:cNvSpPr/>
          <p:nvPr/>
        </p:nvSpPr>
        <p:spPr>
          <a:xfrm>
            <a:off x="0" y="-68505"/>
            <a:ext cx="12192000" cy="780732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"/>
          <p:cNvSpPr/>
          <p:nvPr/>
        </p:nvSpPr>
        <p:spPr>
          <a:xfrm>
            <a:off x="393192" y="90612"/>
            <a:ext cx="1005840" cy="478451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"/>
          <p:cNvSpPr txBox="1"/>
          <p:nvPr/>
        </p:nvSpPr>
        <p:spPr>
          <a:xfrm>
            <a:off x="411480" y="101638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260" name="Google Shape;260;p3"/>
          <p:cNvSpPr txBox="1"/>
          <p:nvPr/>
        </p:nvSpPr>
        <p:spPr>
          <a:xfrm>
            <a:off x="1609344" y="435524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Visual differences between the three image-input methods</a:t>
            </a:r>
            <a:endParaRPr/>
          </a:p>
        </p:txBody>
      </p:sp>
      <p:sp>
        <p:nvSpPr>
          <p:cNvPr id="261" name="Google Shape;261;p3"/>
          <p:cNvSpPr txBox="1"/>
          <p:nvPr/>
        </p:nvSpPr>
        <p:spPr>
          <a:xfrm>
            <a:off x="1609344" y="10373"/>
            <a:ext cx="8046720" cy="517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Preparation Methods</a:t>
            </a:r>
            <a:endParaRPr/>
          </a:p>
        </p:txBody>
      </p:sp>
      <p:sp>
        <p:nvSpPr>
          <p:cNvPr id="262" name="Google Shape;262;p3"/>
          <p:cNvSpPr/>
          <p:nvPr/>
        </p:nvSpPr>
        <p:spPr>
          <a:xfrm>
            <a:off x="2506237" y="6297898"/>
            <a:ext cx="7040880" cy="540344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"/>
          <p:cNvSpPr txBox="1"/>
          <p:nvPr/>
        </p:nvSpPr>
        <p:spPr>
          <a:xfrm>
            <a:off x="2689117" y="626217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The project compares three dataset preparation methods under fair and consistent settings.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 txBox="1"/>
          <p:nvPr/>
        </p:nvSpPr>
        <p:spPr>
          <a:xfrm>
            <a:off x="429768" y="18288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271" name="Google Shape;271;p4"/>
          <p:cNvSpPr txBox="1"/>
          <p:nvPr/>
        </p:nvSpPr>
        <p:spPr>
          <a:xfrm>
            <a:off x="1600200" y="1645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&amp; Methodology — Hardware System</a:t>
            </a:r>
            <a:endParaRPr/>
          </a:p>
        </p:txBody>
      </p:sp>
      <p:sp>
        <p:nvSpPr>
          <p:cNvPr id="272" name="Google Shape;272;p4"/>
          <p:cNvSpPr txBox="1"/>
          <p:nvPr/>
        </p:nvSpPr>
        <p:spPr>
          <a:xfrm>
            <a:off x="1609344" y="47548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Physical setup used for real-time banana ripeness testing</a:t>
            </a:r>
            <a:endParaRPr/>
          </a:p>
        </p:txBody>
      </p:sp>
      <p:sp>
        <p:nvSpPr>
          <p:cNvPr id="273" name="Google Shape;273;p4"/>
          <p:cNvSpPr txBox="1"/>
          <p:nvPr/>
        </p:nvSpPr>
        <p:spPr>
          <a:xfrm>
            <a:off x="5943600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Main components</a:t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594360" y="1188720"/>
            <a:ext cx="5074920" cy="5074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rdware_crop.png" id="275" name="Google Shape;2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417320"/>
            <a:ext cx="4645152" cy="449884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"/>
          <p:cNvSpPr txBox="1"/>
          <p:nvPr/>
        </p:nvSpPr>
        <p:spPr>
          <a:xfrm>
            <a:off x="5943600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Main components</a:t>
            </a: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5897880" y="173736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 txBox="1"/>
          <p:nvPr/>
        </p:nvSpPr>
        <p:spPr>
          <a:xfrm>
            <a:off x="6080760" y="181051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Webcam</a:t>
            </a:r>
            <a:endParaRPr/>
          </a:p>
        </p:txBody>
      </p:sp>
      <p:sp>
        <p:nvSpPr>
          <p:cNvPr id="279" name="Google Shape;279;p4"/>
          <p:cNvSpPr txBox="1"/>
          <p:nvPr/>
        </p:nvSpPr>
        <p:spPr>
          <a:xfrm>
            <a:off x="7589520" y="181051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Captures live banana images for classification.</a:t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5897880" y="269748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6080760" y="277063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Ring light</a:t>
            </a:r>
            <a:endParaRPr/>
          </a:p>
        </p:txBody>
      </p:sp>
      <p:sp>
        <p:nvSpPr>
          <p:cNvPr id="282" name="Google Shape;282;p4"/>
          <p:cNvSpPr txBox="1"/>
          <p:nvPr/>
        </p:nvSpPr>
        <p:spPr>
          <a:xfrm>
            <a:off x="7589520" y="27706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Provides warm and cool lighting conditions for testing.</a:t>
            </a:r>
            <a:endParaRPr/>
          </a:p>
        </p:txBody>
      </p:sp>
      <p:sp>
        <p:nvSpPr>
          <p:cNvPr id="283" name="Google Shape;283;p4"/>
          <p:cNvSpPr/>
          <p:nvPr/>
        </p:nvSpPr>
        <p:spPr>
          <a:xfrm>
            <a:off x="5897880" y="365760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 txBox="1"/>
          <p:nvPr/>
        </p:nvSpPr>
        <p:spPr>
          <a:xfrm>
            <a:off x="6080760" y="373075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Box enclosure</a:t>
            </a:r>
            <a:endParaRPr/>
          </a:p>
        </p:txBody>
      </p:sp>
      <p:sp>
        <p:nvSpPr>
          <p:cNvPr id="285" name="Google Shape;285;p4"/>
          <p:cNvSpPr txBox="1"/>
          <p:nvPr/>
        </p:nvSpPr>
        <p:spPr>
          <a:xfrm>
            <a:off x="7589520" y="37307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Creates a more controlled capture environment.</a:t>
            </a: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5897880" y="461772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AE6D6"/>
          </a:solidFill>
          <a:ln cap="flat" cmpd="sng" w="9525">
            <a:solidFill>
              <a:srgbClr val="FAE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 txBox="1"/>
          <p:nvPr/>
        </p:nvSpPr>
        <p:spPr>
          <a:xfrm>
            <a:off x="6080760" y="469087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Laptop + scissor arm</a:t>
            </a:r>
            <a:endParaRPr/>
          </a:p>
        </p:txBody>
      </p:sp>
      <p:sp>
        <p:nvSpPr>
          <p:cNvPr id="288" name="Google Shape;288;p4"/>
          <p:cNvSpPr txBox="1"/>
          <p:nvPr/>
        </p:nvSpPr>
        <p:spPr>
          <a:xfrm>
            <a:off x="7589520" y="46908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Runs the model and keeps the camera position stable.</a:t>
            </a:r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6035040" y="5486400"/>
            <a:ext cx="5029200" cy="599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 txBox="1"/>
          <p:nvPr/>
        </p:nvSpPr>
        <p:spPr>
          <a:xfrm>
            <a:off x="6144768" y="559612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Purpose: evaluate the trained models in a practical live-camera setup.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/>
          <p:nvPr/>
        </p:nvSpPr>
        <p:spPr>
          <a:xfrm>
            <a:off x="1025996" y="6126480"/>
            <a:ext cx="2880360" cy="411480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1071716" y="61630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Live comparison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4253828" y="6126480"/>
            <a:ext cx="2880360" cy="411480"/>
          </a:xfrm>
          <a:prstGeom prst="roundRect">
            <a:avLst>
              <a:gd fmla="val 16667" name="adj"/>
            </a:avLst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 txBox="1"/>
          <p:nvPr/>
        </p:nvSpPr>
        <p:spPr>
          <a:xfrm>
            <a:off x="4299548" y="61630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Real-time evaluation</a:t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7481660" y="6126480"/>
            <a:ext cx="2880360" cy="411480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 txBox="1"/>
          <p:nvPr/>
        </p:nvSpPr>
        <p:spPr>
          <a:xfrm>
            <a:off x="7527380" y="61630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Recording function</a:t>
            </a:r>
            <a:endParaRPr/>
          </a:p>
        </p:txBody>
      </p:sp>
      <p:sp>
        <p:nvSpPr>
          <p:cNvPr id="301" name="Google Shape;301;p5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429768" y="18288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/>
          </a:p>
        </p:txBody>
      </p:sp>
      <p:sp>
        <p:nvSpPr>
          <p:cNvPr id="304" name="Google Shape;304;p5"/>
          <p:cNvSpPr txBox="1"/>
          <p:nvPr/>
        </p:nvSpPr>
        <p:spPr>
          <a:xfrm>
            <a:off x="1600200" y="16459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&amp; Methodology — Real-Time GUI Platform</a:t>
            </a:r>
            <a:endParaRPr/>
          </a:p>
        </p:txBody>
      </p:sp>
      <p:sp>
        <p:nvSpPr>
          <p:cNvPr id="305" name="Google Shape;305;p5"/>
          <p:cNvSpPr txBox="1"/>
          <p:nvPr/>
        </p:nvSpPr>
        <p:spPr>
          <a:xfrm>
            <a:off x="1609344" y="47548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Custom interface for live comparison under warm and cool lighting</a:t>
            </a:r>
            <a:endParaRPr/>
          </a:p>
        </p:txBody>
      </p:sp>
      <p:sp>
        <p:nvSpPr>
          <p:cNvPr id="306" name="Google Shape;306;p5"/>
          <p:cNvSpPr/>
          <p:nvPr/>
        </p:nvSpPr>
        <p:spPr>
          <a:xfrm>
            <a:off x="134662" y="1409310"/>
            <a:ext cx="6806911" cy="4263903"/>
          </a:xfrm>
          <a:custGeom>
            <a:rect b="b" l="l" r="r" t="t"/>
            <a:pathLst>
              <a:path extrusionOk="0" h="5311783" w="10328285">
                <a:moveTo>
                  <a:pt x="0" y="0"/>
                </a:moveTo>
                <a:lnTo>
                  <a:pt x="10328284" y="0"/>
                </a:lnTo>
                <a:lnTo>
                  <a:pt x="10328284" y="5311783"/>
                </a:lnTo>
                <a:lnTo>
                  <a:pt x="0" y="5311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06" l="-223" r="-223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pic>
        <p:nvPicPr>
          <p:cNvPr id="307" name="Google Shape;307;p5"/>
          <p:cNvPicPr preferRelativeResize="0"/>
          <p:nvPr/>
        </p:nvPicPr>
        <p:blipFill rotWithShape="1">
          <a:blip r:embed="rId4">
            <a:alphaModFix/>
          </a:blip>
          <a:srcRect b="0" l="2843" r="0" t="0"/>
          <a:stretch/>
        </p:blipFill>
        <p:spPr>
          <a:xfrm>
            <a:off x="7037032" y="1544307"/>
            <a:ext cx="5020306" cy="37644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"/>
          <p:cNvSpPr/>
          <p:nvPr/>
        </p:nvSpPr>
        <p:spPr>
          <a:xfrm>
            <a:off x="4563152" y="3368477"/>
            <a:ext cx="17373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429768" y="18288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16" name="Google Shape;316;p6"/>
          <p:cNvSpPr txBox="1"/>
          <p:nvPr/>
        </p:nvSpPr>
        <p:spPr>
          <a:xfrm>
            <a:off x="1600200" y="164592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&amp; Competitive Analysis</a:t>
            </a:r>
            <a:endParaRPr/>
          </a:p>
        </p:txBody>
      </p:sp>
      <p:sp>
        <p:nvSpPr>
          <p:cNvPr id="317" name="Google Shape;317;p6"/>
          <p:cNvSpPr txBox="1"/>
          <p:nvPr/>
        </p:nvSpPr>
        <p:spPr>
          <a:xfrm>
            <a:off x="1609344" y="475488"/>
            <a:ext cx="74980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Why the problem matters and how this prototype compares to existing approaches</a:t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521208" y="977376"/>
            <a:ext cx="3657600" cy="4892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786385" y="1148850"/>
            <a:ext cx="1855740" cy="365760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749808" y="1148088"/>
            <a:ext cx="1723792" cy="393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Market Need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749808" y="1580314"/>
            <a:ext cx="3000904" cy="432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457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D39"/>
              </a:buClr>
              <a:buSzPts val="1700"/>
              <a:buFont typeface="Noto Sans Symbols"/>
              <a:buChar char="❖"/>
            </a:pPr>
            <a:r>
              <a:rPr b="0" lang="en-US" sz="17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Fruit grading is still often manual, subjective, and inconsistent.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700"/>
              <a:buFont typeface="Noto Sans Symbols"/>
              <a:buChar char="❖"/>
            </a:pPr>
            <a:r>
              <a:rPr b="0" lang="en-US" sz="17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Lighting variation can change the perceived banana colour and affect judgement.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700"/>
              <a:buFont typeface="Noto Sans Symbols"/>
              <a:buChar char="❖"/>
            </a:pPr>
            <a:r>
              <a:rPr b="0" lang="en-US" sz="17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In supermarkets and retail chains, inaccurate grading may lead to food waste or poor stock rotation.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700"/>
              <a:buFont typeface="Noto Sans Symbols"/>
              <a:buChar char="❖"/>
            </a:pPr>
            <a:r>
              <a:rPr b="0" lang="en-US" sz="17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A low-cost vision system can support more consistent ripeness assessment.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4499242" y="999351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Competitive landscape</a:t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4499242" y="1410831"/>
            <a:ext cx="1737360" cy="43891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 txBox="1"/>
          <p:nvPr/>
        </p:nvSpPr>
        <p:spPr>
          <a:xfrm>
            <a:off x="4535818" y="1483983"/>
            <a:ext cx="1664207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6373762" y="1410831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6410338" y="1483983"/>
            <a:ext cx="1709928" cy="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What they do</a:t>
            </a:r>
            <a:endParaRPr b="1" i="0" sz="13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8294002" y="1410831"/>
            <a:ext cx="1600200" cy="438912"/>
          </a:xfrm>
          <a:prstGeom prst="roundRect">
            <a:avLst>
              <a:gd fmla="val 16667" name="adj"/>
            </a:avLst>
          </a:prstGeom>
          <a:solidFill>
            <a:srgbClr val="FAE6D6"/>
          </a:solidFill>
          <a:ln cap="flat" cmpd="sng" w="9525">
            <a:solidFill>
              <a:srgbClr val="FAE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8330578" y="1483983"/>
            <a:ext cx="1527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9985642" y="1410831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10022218" y="1483983"/>
            <a:ext cx="1435607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Our Position</a:t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4499242" y="1977759"/>
            <a:ext cx="17373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4641712" y="2101260"/>
            <a:ext cx="1469136" cy="317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Manual inspection</a:t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6373762" y="1977759"/>
            <a:ext cx="178308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6428625" y="2038757"/>
            <a:ext cx="1600398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Visual ripeness checking by workers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8294002" y="1977759"/>
            <a:ext cx="1600200" cy="5531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8472359" y="1970586"/>
            <a:ext cx="1243486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Subjective, inconsistent</a:t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9985642" y="1977759"/>
            <a:ext cx="1508760" cy="5531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10040506" y="1990709"/>
            <a:ext cx="1453896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Our system improves consistency</a:t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4535818" y="4070145"/>
            <a:ext cx="1737360" cy="51500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 txBox="1"/>
          <p:nvPr/>
        </p:nvSpPr>
        <p:spPr>
          <a:xfrm>
            <a:off x="4590682" y="4158416"/>
            <a:ext cx="1627631" cy="317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Ellips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410338" y="4070145"/>
            <a:ext cx="1783080" cy="52436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6446914" y="4044212"/>
            <a:ext cx="1673352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AI-powered produce grading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8330578" y="4070145"/>
            <a:ext cx="1600200" cy="53165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8403730" y="4063116"/>
            <a:ext cx="1490472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Industrial line deployment focus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10022218" y="4070145"/>
            <a:ext cx="15087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10095371" y="4085911"/>
            <a:ext cx="1399031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Simpler prototype for early-stage use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4558284" y="5573219"/>
            <a:ext cx="17373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 txBox="1"/>
          <p:nvPr/>
        </p:nvSpPr>
        <p:spPr>
          <a:xfrm>
            <a:off x="4572394" y="5578483"/>
            <a:ext cx="1627631" cy="65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Real Time Banana Ripeness Classification System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6432804" y="5573219"/>
            <a:ext cx="178308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 txBox="1"/>
          <p:nvPr/>
        </p:nvSpPr>
        <p:spPr>
          <a:xfrm>
            <a:off x="6465202" y="5619325"/>
            <a:ext cx="1673352" cy="65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Supermarket quality monitoring and practical ripeness assessment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8353044" y="5573219"/>
            <a:ext cx="160020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8403730" y="5565950"/>
            <a:ext cx="1490472" cy="824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YOLO-based real-time ripeness classification under lighting variation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10044684" y="5573219"/>
            <a:ext cx="150876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9990656" y="5668952"/>
            <a:ext cx="1549564" cy="65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Lower-cost prototype with practical deployment direction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 txBox="1"/>
          <p:nvPr/>
        </p:nvSpPr>
        <p:spPr>
          <a:xfrm>
            <a:off x="548640" y="64922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Market Success Deck</a:t>
            </a:r>
            <a:endParaRPr/>
          </a:p>
        </p:txBody>
      </p:sp>
      <p:sp>
        <p:nvSpPr>
          <p:cNvPr id="357" name="Google Shape;357;p6"/>
          <p:cNvSpPr/>
          <p:nvPr/>
        </p:nvSpPr>
        <p:spPr>
          <a:xfrm>
            <a:off x="4528150" y="2665592"/>
            <a:ext cx="17373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6446914" y="2651467"/>
            <a:ext cx="17373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8312291" y="2651467"/>
            <a:ext cx="160020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10022218" y="2655770"/>
            <a:ext cx="15087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 txBox="1"/>
          <p:nvPr/>
        </p:nvSpPr>
        <p:spPr>
          <a:xfrm>
            <a:off x="4641712" y="2709455"/>
            <a:ext cx="1469136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Colour chart / rule-based grading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6543466" y="2702020"/>
            <a:ext cx="1600398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Basic peel-colour judgement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 txBox="1"/>
          <p:nvPr/>
        </p:nvSpPr>
        <p:spPr>
          <a:xfrm>
            <a:off x="8323693" y="2681965"/>
            <a:ext cx="1600398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Sensitive to lighting/background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 txBox="1"/>
          <p:nvPr/>
        </p:nvSpPr>
        <p:spPr>
          <a:xfrm>
            <a:off x="9939822" y="2693081"/>
            <a:ext cx="1600398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More robust under lighting variation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 txBox="1"/>
          <p:nvPr/>
        </p:nvSpPr>
        <p:spPr>
          <a:xfrm>
            <a:off x="4637879" y="3495663"/>
            <a:ext cx="1627631" cy="317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TOMRA Food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6446914" y="3356905"/>
            <a:ext cx="17373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6521641" y="3399453"/>
            <a:ext cx="1627631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fruit sorting and grading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8293312" y="3343463"/>
            <a:ext cx="164651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"/>
          <p:cNvSpPr txBox="1"/>
          <p:nvPr/>
        </p:nvSpPr>
        <p:spPr>
          <a:xfrm>
            <a:off x="8368039" y="3386011"/>
            <a:ext cx="1489587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Larger-scale, higher-cost focus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10014549" y="3328498"/>
            <a:ext cx="1508760" cy="54728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9EA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 txBox="1"/>
          <p:nvPr/>
        </p:nvSpPr>
        <p:spPr>
          <a:xfrm>
            <a:off x="9989185" y="3389496"/>
            <a:ext cx="1459498" cy="486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Lower-cost prototype direction</a:t>
            </a:r>
            <a:endParaRPr b="0" i="0" sz="11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 txBox="1"/>
          <p:nvPr/>
        </p:nvSpPr>
        <p:spPr>
          <a:xfrm>
            <a:off x="4600465" y="4633853"/>
            <a:ext cx="27432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My Project</a:t>
            </a:r>
            <a:endParaRPr b="1" i="0" sz="18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4535818" y="5012031"/>
            <a:ext cx="1737360" cy="43891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 txBox="1"/>
          <p:nvPr/>
        </p:nvSpPr>
        <p:spPr>
          <a:xfrm>
            <a:off x="4572394" y="5085183"/>
            <a:ext cx="1664207" cy="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Our System</a:t>
            </a:r>
            <a:endParaRPr b="1" i="0" sz="13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6410338" y="5012031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"/>
          <p:cNvSpPr txBox="1"/>
          <p:nvPr/>
        </p:nvSpPr>
        <p:spPr>
          <a:xfrm>
            <a:off x="6446914" y="5085183"/>
            <a:ext cx="1709928" cy="34778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Market Focus</a:t>
            </a:r>
            <a:endParaRPr b="1" i="0" sz="13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8330578" y="5012031"/>
            <a:ext cx="1600200" cy="438912"/>
          </a:xfrm>
          <a:prstGeom prst="roundRect">
            <a:avLst>
              <a:gd fmla="val 16667" name="adj"/>
            </a:avLst>
          </a:prstGeom>
          <a:solidFill>
            <a:srgbClr val="FAE6D6"/>
          </a:solidFill>
          <a:ln cap="flat" cmpd="sng" w="9525">
            <a:solidFill>
              <a:srgbClr val="FAE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 txBox="1"/>
          <p:nvPr/>
        </p:nvSpPr>
        <p:spPr>
          <a:xfrm>
            <a:off x="8412774" y="4976692"/>
            <a:ext cx="1527048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What our system does</a:t>
            </a:r>
            <a:endParaRPr b="1" i="0" sz="13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10022218" y="5012031"/>
            <a:ext cx="1508760" cy="438912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 txBox="1"/>
          <p:nvPr/>
        </p:nvSpPr>
        <p:spPr>
          <a:xfrm>
            <a:off x="10067938" y="4996634"/>
            <a:ext cx="1435607" cy="54784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Our position / advantage</a:t>
            </a:r>
            <a:endParaRPr b="1" i="0" sz="13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429768" y="18288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88" name="Google Shape;388;p7"/>
          <p:cNvSpPr txBox="1"/>
          <p:nvPr/>
        </p:nvSpPr>
        <p:spPr>
          <a:xfrm>
            <a:off x="1600200" y="164592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Uniqueness / Unique Selling Point</a:t>
            </a:r>
            <a:endParaRPr/>
          </a:p>
        </p:txBody>
      </p:sp>
      <p:sp>
        <p:nvSpPr>
          <p:cNvPr id="389" name="Google Shape;389;p7"/>
          <p:cNvSpPr txBox="1"/>
          <p:nvPr/>
        </p:nvSpPr>
        <p:spPr>
          <a:xfrm>
            <a:off x="1609344" y="475488"/>
            <a:ext cx="74980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What makes the prototype different and valuable</a:t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685800" y="1234440"/>
            <a:ext cx="2971800" cy="4480560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 txBox="1"/>
          <p:nvPr/>
        </p:nvSpPr>
        <p:spPr>
          <a:xfrm>
            <a:off x="914400" y="138809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Core Value</a:t>
            </a:r>
            <a:endParaRPr/>
          </a:p>
        </p:txBody>
      </p:sp>
      <p:sp>
        <p:nvSpPr>
          <p:cNvPr id="392" name="Google Shape;392;p7"/>
          <p:cNvSpPr txBox="1"/>
          <p:nvPr/>
        </p:nvSpPr>
        <p:spPr>
          <a:xfrm>
            <a:off x="960120" y="1841849"/>
            <a:ext cx="2423160" cy="2117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A low-cost, real-time banana ripeness classification prototype that was tested under lighting variation to identify the most practical preprocessing method.</a:t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960120" y="4105656"/>
            <a:ext cx="2423160" cy="11704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861060" y="4238529"/>
            <a:ext cx="262128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4C815B"/>
                </a:solidFill>
                <a:latin typeface="Arial"/>
                <a:ea typeface="Arial"/>
                <a:cs typeface="Arial"/>
                <a:sym typeface="Arial"/>
              </a:rPr>
              <a:t>Best practical outcome:</a:t>
            </a:r>
            <a:br>
              <a:rPr b="1" i="0" lang="en-US" sz="1600">
                <a:solidFill>
                  <a:srgbClr val="4C815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>
                <a:solidFill>
                  <a:srgbClr val="4C815B"/>
                </a:solidFill>
                <a:latin typeface="Arial"/>
                <a:ea typeface="Arial"/>
                <a:cs typeface="Arial"/>
                <a:sym typeface="Arial"/>
              </a:rPr>
              <a:t>Method 3 for real-time deployment</a:t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4069080" y="1325880"/>
            <a:ext cx="7406640" cy="877824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 txBox="1"/>
          <p:nvPr/>
        </p:nvSpPr>
        <p:spPr>
          <a:xfrm>
            <a:off x="4297680" y="1417320"/>
            <a:ext cx="2148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01  Real-time &amp; visual</a:t>
            </a:r>
            <a:endParaRPr/>
          </a:p>
        </p:txBody>
      </p:sp>
      <p:sp>
        <p:nvSpPr>
          <p:cNvPr id="397" name="Google Shape;397;p7"/>
          <p:cNvSpPr txBox="1"/>
          <p:nvPr/>
        </p:nvSpPr>
        <p:spPr>
          <a:xfrm>
            <a:off x="6400800" y="1389888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Live webcam GUI shows prediction results for three methods side-by-side.</a:t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4069080" y="2423160"/>
            <a:ext cx="7406640" cy="877824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 txBox="1"/>
          <p:nvPr/>
        </p:nvSpPr>
        <p:spPr>
          <a:xfrm>
            <a:off x="4297680" y="2514600"/>
            <a:ext cx="2148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02  Lighting-aware testing</a:t>
            </a:r>
            <a:endParaRPr/>
          </a:p>
        </p:txBody>
      </p:sp>
      <p:sp>
        <p:nvSpPr>
          <p:cNvPr id="400" name="Google Shape;400;p7"/>
          <p:cNvSpPr txBox="1"/>
          <p:nvPr/>
        </p:nvSpPr>
        <p:spPr>
          <a:xfrm>
            <a:off x="6400800" y="2487168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The project explicitly evaluates warm and cool lighting, which is important for practical use.</a:t>
            </a: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4069080" y="3520440"/>
            <a:ext cx="7406640" cy="877824"/>
          </a:xfrm>
          <a:prstGeom prst="roundRect">
            <a:avLst>
              <a:gd fmla="val 16667" name="adj"/>
            </a:avLst>
          </a:prstGeom>
          <a:solidFill>
            <a:srgbClr val="FAE6D6"/>
          </a:solidFill>
          <a:ln cap="flat" cmpd="sng" w="9525">
            <a:solidFill>
              <a:srgbClr val="FAE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 txBox="1"/>
          <p:nvPr/>
        </p:nvSpPr>
        <p:spPr>
          <a:xfrm>
            <a:off x="4297680" y="3611880"/>
            <a:ext cx="2148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03  Method-driven insight</a:t>
            </a:r>
            <a:endParaRPr/>
          </a:p>
        </p:txBody>
      </p:sp>
      <p:sp>
        <p:nvSpPr>
          <p:cNvPr id="403" name="Google Shape;403;p7"/>
          <p:cNvSpPr txBox="1"/>
          <p:nvPr/>
        </p:nvSpPr>
        <p:spPr>
          <a:xfrm>
            <a:off x="6400800" y="3584448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It does not only classify bananas — it identifies which preprocessing strategy works best.</a:t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4069080" y="4617720"/>
            <a:ext cx="7406640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 txBox="1"/>
          <p:nvPr/>
        </p:nvSpPr>
        <p:spPr>
          <a:xfrm>
            <a:off x="4297680" y="4709159"/>
            <a:ext cx="2148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04  Low-cost deployment potential</a:t>
            </a:r>
            <a:endParaRPr/>
          </a:p>
        </p:txBody>
      </p:sp>
      <p:sp>
        <p:nvSpPr>
          <p:cNvPr id="406" name="Google Shape;406;p7"/>
          <p:cNvSpPr txBox="1"/>
          <p:nvPr/>
        </p:nvSpPr>
        <p:spPr>
          <a:xfrm>
            <a:off x="6400800" y="4681728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Uses accessible components and can be extended into a simple application in the future.</a:t>
            </a: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7"/>
          <p:cNvSpPr txBox="1"/>
          <p:nvPr/>
        </p:nvSpPr>
        <p:spPr>
          <a:xfrm>
            <a:off x="548640" y="64922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Market Success Deck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429768" y="18288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1600200" y="164592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Market &amp; Go-to-Market Strategy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1609344" y="475488"/>
            <a:ext cx="74980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E3E6E8"/>
                </a:solidFill>
                <a:latin typeface="Arial"/>
                <a:ea typeface="Arial"/>
                <a:cs typeface="Arial"/>
                <a:sym typeface="Arial"/>
              </a:rPr>
              <a:t>Who may benefit first and how the project can grow from prototype to pilot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658368" y="117043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658368" y="1664208"/>
            <a:ext cx="3657600" cy="822960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 txBox="1"/>
          <p:nvPr/>
        </p:nvSpPr>
        <p:spPr>
          <a:xfrm>
            <a:off x="822960" y="1737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Supermarkets / retailers</a:t>
            </a:r>
            <a:endParaRPr/>
          </a:p>
        </p:txBody>
      </p:sp>
      <p:sp>
        <p:nvSpPr>
          <p:cNvPr id="421" name="Google Shape;421;p8"/>
          <p:cNvSpPr txBox="1"/>
          <p:nvPr/>
        </p:nvSpPr>
        <p:spPr>
          <a:xfrm>
            <a:off x="2331720" y="1719072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Need more consistent fruit quality checking and stock rotation.</a:t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658368" y="2697480"/>
            <a:ext cx="3657600" cy="822960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822960" y="277063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Fruit distributors / packing houses</a:t>
            </a:r>
            <a:endParaRPr/>
          </a:p>
        </p:txBody>
      </p:sp>
      <p:sp>
        <p:nvSpPr>
          <p:cNvPr id="424" name="Google Shape;424;p8"/>
          <p:cNvSpPr txBox="1"/>
          <p:nvPr/>
        </p:nvSpPr>
        <p:spPr>
          <a:xfrm>
            <a:off x="2331720" y="2752344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Need faster preliminary sorting support before sale or shipment.</a:t>
            </a:r>
            <a:endParaRPr/>
          </a:p>
        </p:txBody>
      </p:sp>
      <p:sp>
        <p:nvSpPr>
          <p:cNvPr id="425" name="Google Shape;425;p8"/>
          <p:cNvSpPr/>
          <p:nvPr/>
        </p:nvSpPr>
        <p:spPr>
          <a:xfrm>
            <a:off x="658368" y="3730752"/>
            <a:ext cx="3657600" cy="822960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 txBox="1"/>
          <p:nvPr/>
        </p:nvSpPr>
        <p:spPr>
          <a:xfrm>
            <a:off x="822960" y="380390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Small farms / agri startups</a:t>
            </a:r>
            <a:endParaRPr/>
          </a:p>
        </p:txBody>
      </p:sp>
      <p:sp>
        <p:nvSpPr>
          <p:cNvPr id="427" name="Google Shape;427;p8"/>
          <p:cNvSpPr txBox="1"/>
          <p:nvPr/>
        </p:nvSpPr>
        <p:spPr>
          <a:xfrm>
            <a:off x="2331720" y="3785615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Need an affordable ripeness screening tool without expensive hardware.</a:t>
            </a:r>
            <a:endParaRPr/>
          </a:p>
        </p:txBody>
      </p:sp>
      <p:sp>
        <p:nvSpPr>
          <p:cNvPr id="428" name="Google Shape;428;p8"/>
          <p:cNvSpPr/>
          <p:nvPr/>
        </p:nvSpPr>
        <p:spPr>
          <a:xfrm>
            <a:off x="658368" y="4764024"/>
            <a:ext cx="3657600" cy="822960"/>
          </a:xfrm>
          <a:prstGeom prst="roundRect">
            <a:avLst>
              <a:gd fmla="val 16667" name="adj"/>
            </a:avLst>
          </a:prstGeom>
          <a:solidFill>
            <a:srgbClr val="FAE6D6"/>
          </a:solidFill>
          <a:ln cap="flat" cmpd="sng" w="9525">
            <a:solidFill>
              <a:srgbClr val="FAE6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 txBox="1"/>
          <p:nvPr/>
        </p:nvSpPr>
        <p:spPr>
          <a:xfrm>
            <a:off x="822960" y="483717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Researchers / students</a:t>
            </a:r>
            <a:endParaRPr/>
          </a:p>
        </p:txBody>
      </p:sp>
      <p:sp>
        <p:nvSpPr>
          <p:cNvPr id="430" name="Google Shape;430;p8"/>
          <p:cNvSpPr txBox="1"/>
          <p:nvPr/>
        </p:nvSpPr>
        <p:spPr>
          <a:xfrm>
            <a:off x="2331720" y="481888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Can use the prototype as a testbed for further smart agriculture work.</a:t>
            </a:r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4572000" y="117043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Go-to-market path</a:t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4572000" y="4892040"/>
            <a:ext cx="1737360" cy="722376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 txBox="1"/>
          <p:nvPr/>
        </p:nvSpPr>
        <p:spPr>
          <a:xfrm>
            <a:off x="4626864" y="4848041"/>
            <a:ext cx="1627631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34" name="Google Shape;434;p8"/>
          <p:cNvSpPr txBox="1"/>
          <p:nvPr/>
        </p:nvSpPr>
        <p:spPr>
          <a:xfrm>
            <a:off x="4663439" y="5180076"/>
            <a:ext cx="159105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Pilot the prototype in a controlled fruit-checking setup.</a:t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6263640" y="4160520"/>
            <a:ext cx="1920240" cy="731520"/>
          </a:xfrm>
          <a:prstGeom prst="roundRect">
            <a:avLst>
              <a:gd fmla="val 16667" name="adj"/>
            </a:avLst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6318511" y="3922776"/>
            <a:ext cx="1810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437" name="Google Shape;437;p8"/>
          <p:cNvSpPr txBox="1"/>
          <p:nvPr/>
        </p:nvSpPr>
        <p:spPr>
          <a:xfrm>
            <a:off x="6336792" y="4370832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 the research GUI into a simpler operator-friendly application.</a:t>
            </a:r>
            <a:endParaRPr/>
          </a:p>
        </p:txBody>
      </p:sp>
      <p:sp>
        <p:nvSpPr>
          <p:cNvPr id="438" name="Google Shape;438;p8"/>
          <p:cNvSpPr/>
          <p:nvPr/>
        </p:nvSpPr>
        <p:spPr>
          <a:xfrm>
            <a:off x="8138160" y="324612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 txBox="1"/>
          <p:nvPr/>
        </p:nvSpPr>
        <p:spPr>
          <a:xfrm>
            <a:off x="8174736" y="3221048"/>
            <a:ext cx="19019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</p:txBody>
      </p:sp>
      <p:sp>
        <p:nvSpPr>
          <p:cNvPr id="440" name="Google Shape;440;p8"/>
          <p:cNvSpPr txBox="1"/>
          <p:nvPr/>
        </p:nvSpPr>
        <p:spPr>
          <a:xfrm>
            <a:off x="8211312" y="3456432"/>
            <a:ext cx="186537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 small trials with supermarkets or fruit vendors and collect feedback.</a:t>
            </a: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10058400" y="1965960"/>
            <a:ext cx="1600200" cy="1280160"/>
          </a:xfrm>
          <a:prstGeom prst="roundRect">
            <a:avLst>
              <a:gd fmla="val 16667" name="adj"/>
            </a:avLst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 txBox="1"/>
          <p:nvPr/>
        </p:nvSpPr>
        <p:spPr>
          <a:xfrm>
            <a:off x="10113264" y="2039112"/>
            <a:ext cx="1490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/>
          </a:p>
        </p:txBody>
      </p:sp>
      <p:sp>
        <p:nvSpPr>
          <p:cNvPr id="443" name="Google Shape;443;p8"/>
          <p:cNvSpPr txBox="1"/>
          <p:nvPr/>
        </p:nvSpPr>
        <p:spPr>
          <a:xfrm>
            <a:off x="10131552" y="2176272"/>
            <a:ext cx="1453896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 as a low-cost decision-support tool or service package.</a:t>
            </a:r>
            <a:endParaRPr/>
          </a:p>
        </p:txBody>
      </p:sp>
      <p:sp>
        <p:nvSpPr>
          <p:cNvPr id="444" name="Google Shape;444;p8"/>
          <p:cNvSpPr txBox="1"/>
          <p:nvPr/>
        </p:nvSpPr>
        <p:spPr>
          <a:xfrm>
            <a:off x="4617720" y="5797296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Early positioning: a practical decision-support solution, not yet a fully commercial product.</a:t>
            </a:r>
            <a:endParaRPr/>
          </a:p>
        </p:txBody>
      </p:sp>
      <p:sp>
        <p:nvSpPr>
          <p:cNvPr id="445" name="Google Shape;445;p8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 txBox="1"/>
          <p:nvPr/>
        </p:nvSpPr>
        <p:spPr>
          <a:xfrm>
            <a:off x="548640" y="64922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Market Success Deck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 txBox="1"/>
          <p:nvPr/>
        </p:nvSpPr>
        <p:spPr>
          <a:xfrm>
            <a:off x="429768" y="171415"/>
            <a:ext cx="969264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24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9"/>
          <p:cNvSpPr txBox="1"/>
          <p:nvPr/>
        </p:nvSpPr>
        <p:spPr>
          <a:xfrm>
            <a:off x="1600200" y="164592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Analysis &amp; Budget Value</a:t>
            </a:r>
            <a:endParaRPr/>
          </a:p>
        </p:txBody>
      </p:sp>
      <p:sp>
        <p:nvSpPr>
          <p:cNvPr id="455" name="Google Shape;455;p9"/>
          <p:cNvSpPr txBox="1"/>
          <p:nvPr/>
        </p:nvSpPr>
        <p:spPr>
          <a:xfrm>
            <a:off x="1609344" y="47548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Estimated prototype cost structure for the current FYP setup</a:t>
            </a: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609447" y="2271888"/>
            <a:ext cx="5486400" cy="40603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 txBox="1"/>
          <p:nvPr/>
        </p:nvSpPr>
        <p:spPr>
          <a:xfrm>
            <a:off x="886766" y="2234184"/>
            <a:ext cx="27432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Estimated prototype cost</a:t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>
            <a:off x="886766" y="2599944"/>
            <a:ext cx="2606040" cy="43891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 txBox="1"/>
          <p:nvPr/>
        </p:nvSpPr>
        <p:spPr>
          <a:xfrm>
            <a:off x="923342" y="2673096"/>
            <a:ext cx="25328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3538526" y="2599944"/>
            <a:ext cx="1234440" cy="43891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 txBox="1"/>
          <p:nvPr/>
        </p:nvSpPr>
        <p:spPr>
          <a:xfrm>
            <a:off x="3575102" y="2673096"/>
            <a:ext cx="11612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4864406" y="2599944"/>
            <a:ext cx="960120" cy="438912"/>
          </a:xfrm>
          <a:prstGeom prst="roundRect">
            <a:avLst>
              <a:gd fmla="val 16667" name="adj"/>
            </a:avLst>
          </a:prstGeom>
          <a:solidFill>
            <a:srgbClr val="E2EBF8"/>
          </a:solidFill>
          <a:ln cap="flat" cmpd="sng" w="9525">
            <a:solidFill>
              <a:srgbClr val="E2EB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 txBox="1"/>
          <p:nvPr/>
        </p:nvSpPr>
        <p:spPr>
          <a:xfrm>
            <a:off x="4910126" y="2621982"/>
            <a:ext cx="886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Estimated Cost (RM)</a:t>
            </a:r>
            <a:endParaRPr/>
          </a:p>
        </p:txBody>
      </p:sp>
      <p:sp>
        <p:nvSpPr>
          <p:cNvPr id="464" name="Google Shape;464;p9"/>
          <p:cNvSpPr/>
          <p:nvPr/>
        </p:nvSpPr>
        <p:spPr>
          <a:xfrm>
            <a:off x="886766" y="3075432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 txBox="1"/>
          <p:nvPr/>
        </p:nvSpPr>
        <p:spPr>
          <a:xfrm>
            <a:off x="932486" y="3130296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Webcam</a:t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3538526" y="3075432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 txBox="1"/>
          <p:nvPr/>
        </p:nvSpPr>
        <p:spPr>
          <a:xfrm>
            <a:off x="3584246" y="313029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Dell WB3023 / similar camera</a:t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4864406" y="3075432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 txBox="1"/>
          <p:nvPr/>
        </p:nvSpPr>
        <p:spPr>
          <a:xfrm>
            <a:off x="4910126" y="313029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262 – 370</a:t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886766" y="3587496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 txBox="1"/>
          <p:nvPr/>
        </p:nvSpPr>
        <p:spPr>
          <a:xfrm>
            <a:off x="932486" y="364236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Ring light</a:t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3538526" y="3587496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 txBox="1"/>
          <p:nvPr/>
        </p:nvSpPr>
        <p:spPr>
          <a:xfrm>
            <a:off x="3584246" y="364236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Warm &amp; cool lighting setup</a:t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4864406" y="3587496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 txBox="1"/>
          <p:nvPr/>
        </p:nvSpPr>
        <p:spPr>
          <a:xfrm>
            <a:off x="4910126" y="364236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20 – 50</a:t>
            </a:r>
            <a:endParaRPr/>
          </a:p>
        </p:txBody>
      </p:sp>
      <p:sp>
        <p:nvSpPr>
          <p:cNvPr id="476" name="Google Shape;476;p9"/>
          <p:cNvSpPr/>
          <p:nvPr/>
        </p:nvSpPr>
        <p:spPr>
          <a:xfrm>
            <a:off x="886766" y="4099560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 txBox="1"/>
          <p:nvPr/>
        </p:nvSpPr>
        <p:spPr>
          <a:xfrm>
            <a:off x="932486" y="4154424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Box enclosure</a:t>
            </a:r>
            <a:endParaRPr/>
          </a:p>
        </p:txBody>
      </p:sp>
      <p:sp>
        <p:nvSpPr>
          <p:cNvPr id="478" name="Google Shape;478;p9"/>
          <p:cNvSpPr/>
          <p:nvPr/>
        </p:nvSpPr>
        <p:spPr>
          <a:xfrm>
            <a:off x="3538526" y="4099560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 txBox="1"/>
          <p:nvPr/>
        </p:nvSpPr>
        <p:spPr>
          <a:xfrm>
            <a:off x="3584246" y="415442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Controlled image capture area</a:t>
            </a: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4864406" y="4099560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 txBox="1"/>
          <p:nvPr/>
        </p:nvSpPr>
        <p:spPr>
          <a:xfrm>
            <a:off x="4910126" y="4154424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20 – 50</a:t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886766" y="4611624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 txBox="1"/>
          <p:nvPr/>
        </p:nvSpPr>
        <p:spPr>
          <a:xfrm>
            <a:off x="932486" y="466648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Scissor arm / mount</a:t>
            </a:r>
            <a:endParaRPr/>
          </a:p>
        </p:txBody>
      </p:sp>
      <p:sp>
        <p:nvSpPr>
          <p:cNvPr id="484" name="Google Shape;484;p9"/>
          <p:cNvSpPr/>
          <p:nvPr/>
        </p:nvSpPr>
        <p:spPr>
          <a:xfrm>
            <a:off x="3538526" y="4611624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 txBox="1"/>
          <p:nvPr/>
        </p:nvSpPr>
        <p:spPr>
          <a:xfrm>
            <a:off x="3584246" y="466648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Stable camera positioning</a:t>
            </a:r>
            <a:endParaRPr/>
          </a:p>
        </p:txBody>
      </p:sp>
      <p:sp>
        <p:nvSpPr>
          <p:cNvPr id="486" name="Google Shape;486;p9"/>
          <p:cNvSpPr/>
          <p:nvPr/>
        </p:nvSpPr>
        <p:spPr>
          <a:xfrm>
            <a:off x="4864406" y="4611624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 txBox="1"/>
          <p:nvPr/>
        </p:nvSpPr>
        <p:spPr>
          <a:xfrm>
            <a:off x="4910126" y="466648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23 – 69</a:t>
            </a:r>
            <a:endParaRPr/>
          </a:p>
        </p:txBody>
      </p:sp>
      <p:sp>
        <p:nvSpPr>
          <p:cNvPr id="488" name="Google Shape;488;p9"/>
          <p:cNvSpPr/>
          <p:nvPr/>
        </p:nvSpPr>
        <p:spPr>
          <a:xfrm>
            <a:off x="886766" y="5123688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 txBox="1"/>
          <p:nvPr/>
        </p:nvSpPr>
        <p:spPr>
          <a:xfrm>
            <a:off x="932486" y="5178551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Software stack</a:t>
            </a:r>
            <a:endParaRPr/>
          </a:p>
        </p:txBody>
      </p:sp>
      <p:sp>
        <p:nvSpPr>
          <p:cNvPr id="490" name="Google Shape;490;p9"/>
          <p:cNvSpPr/>
          <p:nvPr/>
        </p:nvSpPr>
        <p:spPr>
          <a:xfrm>
            <a:off x="3538526" y="5123688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 txBox="1"/>
          <p:nvPr/>
        </p:nvSpPr>
        <p:spPr>
          <a:xfrm>
            <a:off x="3584246" y="5178551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Python, OpenCV, YOLO tools</a:t>
            </a: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4864406" y="5123688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 txBox="1"/>
          <p:nvPr/>
        </p:nvSpPr>
        <p:spPr>
          <a:xfrm>
            <a:off x="4910126" y="5178551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886766" y="5635752"/>
            <a:ext cx="2606040" cy="420624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 txBox="1"/>
          <p:nvPr/>
        </p:nvSpPr>
        <p:spPr>
          <a:xfrm>
            <a:off x="932486" y="5690616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Prototype total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3538526" y="5635752"/>
            <a:ext cx="1234440" cy="420624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 txBox="1"/>
          <p:nvPr/>
        </p:nvSpPr>
        <p:spPr>
          <a:xfrm>
            <a:off x="3584246" y="569061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Excluding laptop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4864406" y="5635752"/>
            <a:ext cx="960120" cy="420624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 txBox="1"/>
          <p:nvPr/>
        </p:nvSpPr>
        <p:spPr>
          <a:xfrm>
            <a:off x="4910126" y="569061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325 – 539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6370167" y="2221838"/>
            <a:ext cx="5257800" cy="332247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 txBox="1"/>
          <p:nvPr/>
        </p:nvSpPr>
        <p:spPr>
          <a:xfrm>
            <a:off x="6713067" y="2271888"/>
            <a:ext cx="450799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Why this project is budget-friendly?</a:t>
            </a:r>
            <a:endParaRPr b="1"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6604765" y="2616490"/>
            <a:ext cx="4754880" cy="714756"/>
          </a:xfrm>
          <a:prstGeom prst="roundRect">
            <a:avLst>
              <a:gd fmla="val 16667" name="adj"/>
            </a:avLst>
          </a:prstGeom>
          <a:solidFill>
            <a:srgbClr val="FFF3C7"/>
          </a:solidFill>
          <a:ln cap="flat" cmpd="sng" w="9525">
            <a:solidFill>
              <a:srgbClr val="FFF3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 txBox="1"/>
          <p:nvPr/>
        </p:nvSpPr>
        <p:spPr>
          <a:xfrm>
            <a:off x="6787645" y="2647267"/>
            <a:ext cx="4389120" cy="726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54850" spcFirstLastPara="1" rIns="548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Main strength: low-cost hardware</a:t>
            </a:r>
            <a:br>
              <a:rPr b="1" lang="en-US" sz="20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 with open-source software</a:t>
            </a:r>
            <a:endParaRPr/>
          </a:p>
        </p:txBody>
      </p:sp>
      <p:sp>
        <p:nvSpPr>
          <p:cNvPr id="504" name="Google Shape;504;p9"/>
          <p:cNvSpPr txBox="1"/>
          <p:nvPr/>
        </p:nvSpPr>
        <p:spPr>
          <a:xfrm>
            <a:off x="6604765" y="3514126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Uses consumer-grade components instead of industrial machine-vision hardware.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No expensive proprietary software is required at prototype stage.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Suitable for early testing, student research, and pilot discussions.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518007" y="65882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 txBox="1"/>
          <p:nvPr/>
        </p:nvSpPr>
        <p:spPr>
          <a:xfrm>
            <a:off x="563727" y="6606540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54850" spcFirstLastPara="1" rIns="548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Cost Analysis</a:t>
            </a:r>
            <a:endParaRPr/>
          </a:p>
        </p:txBody>
      </p:sp>
      <p:sp>
        <p:nvSpPr>
          <p:cNvPr id="507" name="Google Shape;507;p9"/>
          <p:cNvSpPr txBox="1"/>
          <p:nvPr/>
        </p:nvSpPr>
        <p:spPr>
          <a:xfrm>
            <a:off x="563727" y="912311"/>
            <a:ext cx="3200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ACHIEVED — PROTOTYPE VALIDATED</a:t>
            </a:r>
            <a:endParaRPr/>
          </a:p>
        </p:txBody>
      </p:sp>
      <p:sp>
        <p:nvSpPr>
          <p:cNvPr id="508" name="Google Shape;508;p9"/>
          <p:cNvSpPr/>
          <p:nvPr/>
        </p:nvSpPr>
        <p:spPr>
          <a:xfrm>
            <a:off x="563727" y="1204919"/>
            <a:ext cx="2240280" cy="868680"/>
          </a:xfrm>
          <a:prstGeom prst="rect">
            <a:avLst/>
          </a:prstGeom>
          <a:solidFill>
            <a:srgbClr val="E1CD75"/>
          </a:solidFill>
          <a:ln cap="flat" cmpd="sng" w="9525">
            <a:solidFill>
              <a:srgbClr val="CD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 txBox="1"/>
          <p:nvPr/>
        </p:nvSpPr>
        <p:spPr>
          <a:xfrm>
            <a:off x="636879" y="1378655"/>
            <a:ext cx="20939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 Classes</a:t>
            </a:r>
            <a:endParaRPr/>
          </a:p>
        </p:txBody>
      </p:sp>
      <p:sp>
        <p:nvSpPr>
          <p:cNvPr id="510" name="Google Shape;510;p9"/>
          <p:cNvSpPr txBox="1"/>
          <p:nvPr/>
        </p:nvSpPr>
        <p:spPr>
          <a:xfrm>
            <a:off x="636879" y="1616399"/>
            <a:ext cx="20939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Green, Partially ripe,</a:t>
            </a:r>
            <a:b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Ripe, Overripe</a:t>
            </a:r>
            <a:endParaRPr/>
          </a:p>
        </p:txBody>
      </p:sp>
      <p:sp>
        <p:nvSpPr>
          <p:cNvPr id="511" name="Google Shape;511;p9"/>
          <p:cNvSpPr/>
          <p:nvPr/>
        </p:nvSpPr>
        <p:spPr>
          <a:xfrm>
            <a:off x="3078327" y="1204919"/>
            <a:ext cx="2240280" cy="868680"/>
          </a:xfrm>
          <a:prstGeom prst="rect">
            <a:avLst/>
          </a:prstGeom>
          <a:solidFill>
            <a:srgbClr val="E1CD75"/>
          </a:solidFill>
          <a:ln cap="flat" cmpd="sng" w="9525">
            <a:solidFill>
              <a:srgbClr val="CD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 txBox="1"/>
          <p:nvPr/>
        </p:nvSpPr>
        <p:spPr>
          <a:xfrm>
            <a:off x="3151479" y="1378655"/>
            <a:ext cx="20939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3 Methods</a:t>
            </a:r>
            <a:endParaRPr/>
          </a:p>
        </p:txBody>
      </p:sp>
      <p:sp>
        <p:nvSpPr>
          <p:cNvPr id="513" name="Google Shape;513;p9"/>
          <p:cNvSpPr txBox="1"/>
          <p:nvPr/>
        </p:nvSpPr>
        <p:spPr>
          <a:xfrm>
            <a:off x="3151479" y="1616399"/>
            <a:ext cx="20939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Raw, Masked + CLAHE,</a:t>
            </a:r>
            <a:b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Isolated + CLAHE</a:t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5592927" y="1204919"/>
            <a:ext cx="2240280" cy="868680"/>
          </a:xfrm>
          <a:prstGeom prst="rect">
            <a:avLst/>
          </a:prstGeom>
          <a:solidFill>
            <a:srgbClr val="E1CD75"/>
          </a:solidFill>
          <a:ln cap="flat" cmpd="sng" w="9525">
            <a:solidFill>
              <a:srgbClr val="CD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 txBox="1"/>
          <p:nvPr/>
        </p:nvSpPr>
        <p:spPr>
          <a:xfrm>
            <a:off x="5666079" y="1378655"/>
            <a:ext cx="20939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 Lighting Modes</a:t>
            </a:r>
            <a:endParaRPr/>
          </a:p>
        </p:txBody>
      </p:sp>
      <p:sp>
        <p:nvSpPr>
          <p:cNvPr id="516" name="Google Shape;516;p9"/>
          <p:cNvSpPr txBox="1"/>
          <p:nvPr/>
        </p:nvSpPr>
        <p:spPr>
          <a:xfrm>
            <a:off x="5666079" y="1616399"/>
            <a:ext cx="20939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Warm and cool</a:t>
            </a:r>
            <a:b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real-time testing</a:t>
            </a: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8107527" y="1204919"/>
            <a:ext cx="2240280" cy="868680"/>
          </a:xfrm>
          <a:prstGeom prst="rect">
            <a:avLst/>
          </a:prstGeom>
          <a:solidFill>
            <a:srgbClr val="E1CD75"/>
          </a:solidFill>
          <a:ln cap="flat" cmpd="sng" w="9525">
            <a:solidFill>
              <a:srgbClr val="CDBE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 txBox="1"/>
          <p:nvPr/>
        </p:nvSpPr>
        <p:spPr>
          <a:xfrm>
            <a:off x="8180679" y="1378655"/>
            <a:ext cx="20939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Best Practical Method</a:t>
            </a:r>
            <a:endParaRPr/>
          </a:p>
        </p:txBody>
      </p:sp>
      <p:sp>
        <p:nvSpPr>
          <p:cNvPr id="519" name="Google Shape;519;p9"/>
          <p:cNvSpPr txBox="1"/>
          <p:nvPr/>
        </p:nvSpPr>
        <p:spPr>
          <a:xfrm>
            <a:off x="8180679" y="1616399"/>
            <a:ext cx="20939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Method 3 selected</a:t>
            </a:r>
            <a:b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5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for real-time use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22D39"/>
          </a:solidFill>
          <a:ln cap="flat" cmpd="sng" w="9525">
            <a:solidFill>
              <a:srgbClr val="222D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411480" y="164592"/>
            <a:ext cx="1005840" cy="502920"/>
          </a:xfrm>
          <a:prstGeom prst="roundRect">
            <a:avLst>
              <a:gd fmla="val 16667" name="adj"/>
            </a:avLst>
          </a:prstGeom>
          <a:solidFill>
            <a:srgbClr val="9774B7"/>
          </a:solidFill>
          <a:ln cap="flat" cmpd="sng" w="9525">
            <a:solidFill>
              <a:srgbClr val="9774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 txBox="1"/>
          <p:nvPr/>
        </p:nvSpPr>
        <p:spPr>
          <a:xfrm>
            <a:off x="429768" y="182880"/>
            <a:ext cx="9692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527" name="Google Shape;527;p10"/>
          <p:cNvSpPr txBox="1"/>
          <p:nvPr/>
        </p:nvSpPr>
        <p:spPr>
          <a:xfrm>
            <a:off x="1572768" y="146304"/>
            <a:ext cx="7315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+ Future Direction</a:t>
            </a:r>
            <a:endParaRPr/>
          </a:p>
        </p:txBody>
      </p:sp>
      <p:sp>
        <p:nvSpPr>
          <p:cNvPr id="528" name="Google Shape;528;p10"/>
          <p:cNvSpPr txBox="1"/>
          <p:nvPr/>
        </p:nvSpPr>
        <p:spPr>
          <a:xfrm>
            <a:off x="1591056" y="457200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4E6E8"/>
                </a:solidFill>
                <a:latin typeface="Arial"/>
                <a:ea typeface="Arial"/>
                <a:cs typeface="Arial"/>
                <a:sym typeface="Arial"/>
              </a:rPr>
              <a:t>How the project can grow from prototype to pilot</a:t>
            </a:r>
            <a:endParaRPr/>
          </a:p>
        </p:txBody>
      </p:sp>
      <p:sp>
        <p:nvSpPr>
          <p:cNvPr id="529" name="Google Shape;529;p10"/>
          <p:cNvSpPr/>
          <p:nvPr/>
        </p:nvSpPr>
        <p:spPr>
          <a:xfrm>
            <a:off x="640080" y="1234440"/>
            <a:ext cx="393192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 txBox="1"/>
          <p:nvPr/>
        </p:nvSpPr>
        <p:spPr>
          <a:xfrm>
            <a:off x="896112" y="1536192"/>
            <a:ext cx="2926080" cy="455509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Future Direction</a:t>
            </a:r>
            <a:endParaRPr b="1" sz="2000">
              <a:solidFill>
                <a:srgbClr val="222D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 txBox="1"/>
          <p:nvPr/>
        </p:nvSpPr>
        <p:spPr>
          <a:xfrm>
            <a:off x="813816" y="1997846"/>
            <a:ext cx="3200400" cy="354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85750" lvl="0" marL="28575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D3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Expand the dataset with more real-world lighting and background variation.</a:t>
            </a:r>
            <a:endParaRPr/>
          </a:p>
          <a:p>
            <a:pPr indent="-285750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Develop a more practical mobile application for banana ripeness classification based on Method 3 preprocessing.</a:t>
            </a:r>
            <a:endParaRPr/>
          </a:p>
          <a:p>
            <a:pPr indent="-285750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Conduct pilot testing in supermarket or fruit-handling environments.</a:t>
            </a:r>
            <a:endParaRPr/>
          </a:p>
          <a:p>
            <a:pPr indent="-285750" lvl="0" marL="28575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222D3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Improve the system packaging as a more practical low-cost ripeness decision-support tool.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4892040" y="1234440"/>
            <a:ext cx="6583680" cy="45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8E9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 txBox="1"/>
          <p:nvPr/>
        </p:nvSpPr>
        <p:spPr>
          <a:xfrm>
            <a:off x="5212080" y="153619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Development roadmap</a:t>
            </a:r>
            <a:endParaRPr/>
          </a:p>
        </p:txBody>
      </p:sp>
      <p:sp>
        <p:nvSpPr>
          <p:cNvPr id="534" name="Google Shape;534;p10"/>
          <p:cNvSpPr/>
          <p:nvPr/>
        </p:nvSpPr>
        <p:spPr>
          <a:xfrm>
            <a:off x="5486400" y="4160520"/>
            <a:ext cx="5303520" cy="45720"/>
          </a:xfrm>
          <a:prstGeom prst="rect">
            <a:avLst/>
          </a:prstGeom>
          <a:solidFill>
            <a:srgbClr val="D2D4D7"/>
          </a:solidFill>
          <a:ln cap="flat" cmpd="sng" w="9525">
            <a:solidFill>
              <a:srgbClr val="D2D4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5797296" y="3986784"/>
            <a:ext cx="310896" cy="310896"/>
          </a:xfrm>
          <a:prstGeom prst="ellipse">
            <a:avLst/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5486400" y="3611880"/>
            <a:ext cx="1417320" cy="868680"/>
          </a:xfrm>
          <a:prstGeom prst="roundRect">
            <a:avLst>
              <a:gd fmla="val 16667" name="adj"/>
            </a:avLst>
          </a:prstGeom>
          <a:solidFill>
            <a:srgbClr val="4C815B"/>
          </a:solidFill>
          <a:ln cap="flat" cmpd="sng" w="9525">
            <a:solidFill>
              <a:srgbClr val="4C81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 txBox="1"/>
          <p:nvPr/>
        </p:nvSpPr>
        <p:spPr>
          <a:xfrm>
            <a:off x="5522976" y="361446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/>
          </a:p>
        </p:txBody>
      </p:sp>
      <p:sp>
        <p:nvSpPr>
          <p:cNvPr id="538" name="Google Shape;538;p10"/>
          <p:cNvSpPr txBox="1"/>
          <p:nvPr/>
        </p:nvSpPr>
        <p:spPr>
          <a:xfrm>
            <a:off x="5532120" y="3857588"/>
            <a:ext cx="1399032" cy="655564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Prototype validated</a:t>
            </a:r>
            <a:b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offline &amp; real-time tests</a:t>
            </a:r>
            <a:endParaRPr/>
          </a:p>
        </p:txBody>
      </p:sp>
      <p:sp>
        <p:nvSpPr>
          <p:cNvPr id="539" name="Google Shape;539;p10"/>
          <p:cNvSpPr/>
          <p:nvPr/>
        </p:nvSpPr>
        <p:spPr>
          <a:xfrm>
            <a:off x="7214616" y="3986784"/>
            <a:ext cx="310896" cy="310896"/>
          </a:xfrm>
          <a:prstGeom prst="ellipse">
            <a:avLst/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6903720" y="2880360"/>
            <a:ext cx="1417320" cy="868680"/>
          </a:xfrm>
          <a:prstGeom prst="roundRect">
            <a:avLst>
              <a:gd fmla="val 16667" name="adj"/>
            </a:avLst>
          </a:prstGeom>
          <a:solidFill>
            <a:srgbClr val="F3CA40"/>
          </a:solidFill>
          <a:ln cap="flat" cmpd="sng" w="9525">
            <a:solidFill>
              <a:srgbClr val="F3C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0"/>
          <p:cNvSpPr txBox="1"/>
          <p:nvPr/>
        </p:nvSpPr>
        <p:spPr>
          <a:xfrm>
            <a:off x="6949440" y="29535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/>
          </a:p>
        </p:txBody>
      </p:sp>
      <p:sp>
        <p:nvSpPr>
          <p:cNvPr id="542" name="Google Shape;542;p10"/>
          <p:cNvSpPr txBox="1"/>
          <p:nvPr/>
        </p:nvSpPr>
        <p:spPr>
          <a:xfrm>
            <a:off x="6958583" y="3136391"/>
            <a:ext cx="1298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Improve dataset and</a:t>
            </a:r>
            <a:br>
              <a:rPr b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00">
                <a:solidFill>
                  <a:srgbClr val="222D39"/>
                </a:solidFill>
                <a:latin typeface="Arial"/>
                <a:ea typeface="Arial"/>
                <a:cs typeface="Arial"/>
                <a:sym typeface="Arial"/>
              </a:rPr>
              <a:t>software usability</a:t>
            </a:r>
            <a:endParaRPr/>
          </a:p>
        </p:txBody>
      </p:sp>
      <p:sp>
        <p:nvSpPr>
          <p:cNvPr id="543" name="Google Shape;543;p10"/>
          <p:cNvSpPr/>
          <p:nvPr/>
        </p:nvSpPr>
        <p:spPr>
          <a:xfrm>
            <a:off x="8631936" y="3986784"/>
            <a:ext cx="310896" cy="310896"/>
          </a:xfrm>
          <a:prstGeom prst="ellipse">
            <a:avLst/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8321040" y="2148840"/>
            <a:ext cx="1417320" cy="868680"/>
          </a:xfrm>
          <a:prstGeom prst="roundRect">
            <a:avLst>
              <a:gd fmla="val 16667" name="adj"/>
            </a:avLst>
          </a:prstGeom>
          <a:solidFill>
            <a:srgbClr val="F0AD74"/>
          </a:solidFill>
          <a:ln cap="flat" cmpd="sng" w="9525">
            <a:solidFill>
              <a:srgbClr val="F0AD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 txBox="1"/>
          <p:nvPr/>
        </p:nvSpPr>
        <p:spPr>
          <a:xfrm>
            <a:off x="8366760" y="222199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/>
          </a:p>
        </p:txBody>
      </p:sp>
      <p:sp>
        <p:nvSpPr>
          <p:cNvPr id="546" name="Google Shape;546;p10"/>
          <p:cNvSpPr txBox="1"/>
          <p:nvPr/>
        </p:nvSpPr>
        <p:spPr>
          <a:xfrm>
            <a:off x="8375904" y="2404872"/>
            <a:ext cx="1298448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test in supermarket</a:t>
            </a:r>
            <a:endParaRPr/>
          </a:p>
        </p:txBody>
      </p:sp>
      <p:sp>
        <p:nvSpPr>
          <p:cNvPr id="547" name="Google Shape;547;p10"/>
          <p:cNvSpPr/>
          <p:nvPr/>
        </p:nvSpPr>
        <p:spPr>
          <a:xfrm>
            <a:off x="10049256" y="3986784"/>
            <a:ext cx="310896" cy="310896"/>
          </a:xfrm>
          <a:prstGeom prst="ellipse">
            <a:avLst/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9738360" y="1417320"/>
            <a:ext cx="1417320" cy="868680"/>
          </a:xfrm>
          <a:prstGeom prst="roundRect">
            <a:avLst>
              <a:gd fmla="val 16667" name="adj"/>
            </a:avLst>
          </a:prstGeom>
          <a:solidFill>
            <a:srgbClr val="5881BE"/>
          </a:solidFill>
          <a:ln cap="flat" cmpd="sng" w="9525">
            <a:solidFill>
              <a:srgbClr val="5881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0"/>
          <p:cNvSpPr txBox="1"/>
          <p:nvPr/>
        </p:nvSpPr>
        <p:spPr>
          <a:xfrm>
            <a:off x="9784080" y="149047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/>
          </a:p>
        </p:txBody>
      </p:sp>
      <p:sp>
        <p:nvSpPr>
          <p:cNvPr id="550" name="Google Shape;550;p10"/>
          <p:cNvSpPr txBox="1"/>
          <p:nvPr/>
        </p:nvSpPr>
        <p:spPr>
          <a:xfrm>
            <a:off x="9793224" y="1673352"/>
            <a:ext cx="1298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Standalone app or</a:t>
            </a:r>
            <a:b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commercial-ready package</a:t>
            </a:r>
            <a:endParaRPr/>
          </a:p>
        </p:txBody>
      </p:sp>
      <p:sp>
        <p:nvSpPr>
          <p:cNvPr id="551" name="Google Shape;551;p10"/>
          <p:cNvSpPr/>
          <p:nvPr/>
        </p:nvSpPr>
        <p:spPr>
          <a:xfrm>
            <a:off x="5257800" y="4892040"/>
            <a:ext cx="5669280" cy="731520"/>
          </a:xfrm>
          <a:prstGeom prst="roundRect">
            <a:avLst>
              <a:gd fmla="val 16667" name="adj"/>
            </a:avLst>
          </a:prstGeom>
          <a:solidFill>
            <a:srgbClr val="DEEDE0"/>
          </a:solidFill>
          <a:ln cap="flat" cmpd="sng" w="9525">
            <a:solidFill>
              <a:srgbClr val="DEE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 txBox="1"/>
          <p:nvPr/>
        </p:nvSpPr>
        <p:spPr>
          <a:xfrm>
            <a:off x="5392994" y="4950887"/>
            <a:ext cx="5394960" cy="670953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C815B"/>
                </a:solidFill>
                <a:latin typeface="Arial"/>
                <a:ea typeface="Arial"/>
                <a:cs typeface="Arial"/>
                <a:sym typeface="Arial"/>
              </a:rPr>
              <a:t>Deployment Direction: Method 3 is the most practical foundation for future deployment.</a:t>
            </a:r>
            <a:endParaRPr b="1" sz="1700">
              <a:solidFill>
                <a:srgbClr val="4C81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CDDE0"/>
          </a:solidFill>
          <a:ln cap="flat" cmpd="sng" w="9525">
            <a:solidFill>
              <a:srgbClr val="DCDD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D7580"/>
                </a:solidFill>
                <a:latin typeface="Arial"/>
                <a:ea typeface="Arial"/>
                <a:cs typeface="Arial"/>
                <a:sym typeface="Arial"/>
              </a:rPr>
              <a:t>Banana Ripeness Classification | 5-minute Summary Deck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1"/>
          <p:cNvSpPr txBox="1"/>
          <p:nvPr/>
        </p:nvSpPr>
        <p:spPr>
          <a:xfrm>
            <a:off x="3048000" y="1630965"/>
            <a:ext cx="6096000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Sniglet"/>
              <a:buNone/>
            </a:pPr>
            <a:r>
              <a:rPr b="0" i="0" lang="en-US" sz="9600" u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Video DEMO</a:t>
            </a:r>
            <a:endParaRPr b="0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b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12"/>
          <p:cNvPicPr preferRelativeResize="0"/>
          <p:nvPr/>
        </p:nvPicPr>
        <p:blipFill rotWithShape="1">
          <a:blip r:embed="rId3">
            <a:alphaModFix/>
          </a:blip>
          <a:srcRect b="16298" l="0" r="0" t="16959"/>
          <a:stretch/>
        </p:blipFill>
        <p:spPr>
          <a:xfrm>
            <a:off x="412619" y="978298"/>
            <a:ext cx="4420059" cy="52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2"/>
          <p:cNvPicPr preferRelativeResize="0"/>
          <p:nvPr/>
        </p:nvPicPr>
        <p:blipFill rotWithShape="1">
          <a:blip r:embed="rId4">
            <a:alphaModFix/>
          </a:blip>
          <a:srcRect b="11727" l="1580" r="0" t="12195"/>
          <a:stretch/>
        </p:blipFill>
        <p:spPr>
          <a:xfrm>
            <a:off x="7269868" y="978299"/>
            <a:ext cx="3870080" cy="53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2"/>
          <p:cNvSpPr txBox="1"/>
          <p:nvPr/>
        </p:nvSpPr>
        <p:spPr>
          <a:xfrm>
            <a:off x="160500" y="238059"/>
            <a:ext cx="4672178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Unripe Banana Video</a:t>
            </a:r>
            <a:endParaRPr/>
          </a:p>
        </p:txBody>
      </p:sp>
      <p:sp>
        <p:nvSpPr>
          <p:cNvPr id="567" name="Google Shape;567;p12"/>
          <p:cNvSpPr txBox="1"/>
          <p:nvPr/>
        </p:nvSpPr>
        <p:spPr>
          <a:xfrm>
            <a:off x="6339763" y="238059"/>
            <a:ext cx="5691737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Partially-Ripe Banana Video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3"/>
          <p:cNvSpPr txBox="1"/>
          <p:nvPr/>
        </p:nvSpPr>
        <p:spPr>
          <a:xfrm>
            <a:off x="160500" y="214816"/>
            <a:ext cx="4672178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Ripe Banana Video</a:t>
            </a:r>
            <a:endParaRPr/>
          </a:p>
        </p:txBody>
      </p:sp>
      <p:sp>
        <p:nvSpPr>
          <p:cNvPr id="573" name="Google Shape;573;p13"/>
          <p:cNvSpPr txBox="1"/>
          <p:nvPr/>
        </p:nvSpPr>
        <p:spPr>
          <a:xfrm>
            <a:off x="6166158" y="220479"/>
            <a:ext cx="5691737" cy="526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Overripe Banana Video</a:t>
            </a:r>
            <a:endParaRPr/>
          </a:p>
        </p:txBody>
      </p:sp>
      <p:pic>
        <p:nvPicPr>
          <p:cNvPr id="574" name="Google Shape;574;p13"/>
          <p:cNvPicPr preferRelativeResize="0"/>
          <p:nvPr/>
        </p:nvPicPr>
        <p:blipFill rotWithShape="1">
          <a:blip r:embed="rId3">
            <a:alphaModFix/>
          </a:blip>
          <a:srcRect b="13866" l="0" r="315" t="13866"/>
          <a:stretch/>
        </p:blipFill>
        <p:spPr>
          <a:xfrm>
            <a:off x="334105" y="764357"/>
            <a:ext cx="4324968" cy="5574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3"/>
          <p:cNvPicPr preferRelativeResize="0"/>
          <p:nvPr/>
        </p:nvPicPr>
        <p:blipFill rotWithShape="1">
          <a:blip r:embed="rId4">
            <a:alphaModFix/>
          </a:blip>
          <a:srcRect b="19618" l="0" r="0" t="19618"/>
          <a:stretch/>
        </p:blipFill>
        <p:spPr>
          <a:xfrm>
            <a:off x="6581670" y="764357"/>
            <a:ext cx="5160043" cy="557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